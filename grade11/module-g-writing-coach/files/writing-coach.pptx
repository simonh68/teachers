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7f5466dbb04cd1" /><Relationship Type="http://schemas.openxmlformats.org/officeDocument/2006/relationships/extended-properties" Target="/docProps/app.xml" Id="R6c3b2cbaf8664e4e" /><Relationship Type="http://schemas.openxmlformats.org/officeDocument/2006/relationships/officeDocument" Target="/ppt/presentation.xml" Id="R72a60e29624b4a3b" /></Relationships>
</file>

<file path=ppt/presentation.xml><?xml version="1.0" encoding="utf-8"?>
<p:presentation xmlns:p="http://schemas.openxmlformats.org/presentationml/2006/main">
  <p:sldMasterIdLst>
    <p:sldMasterId xmlns:r="http://schemas.openxmlformats.org/officeDocument/2006/relationships" id="2147483648" r:id="R94bd56d845d0425f"/>
  </p:sldMasterIdLst>
  <p:notesMasterIdLst>
    <p:notesMasterId xmlns:r="http://schemas.openxmlformats.org/officeDocument/2006/relationships" r:id="R98070abc9b794563"/>
  </p:notesMasterIdLst>
  <p:sldIdLst>
    <p:sldId xmlns:r="http://schemas.openxmlformats.org/officeDocument/2006/relationships" id="256" r:id="R76ef9c6a3d244bc4"/>
    <p:sldId xmlns:r="http://schemas.openxmlformats.org/officeDocument/2006/relationships" id="257" r:id="Ra62738d0192a4dc4"/>
    <p:sldId xmlns:r="http://schemas.openxmlformats.org/officeDocument/2006/relationships" id="258" r:id="R3efde708cd6f4687"/>
    <p:sldId xmlns:r="http://schemas.openxmlformats.org/officeDocument/2006/relationships" id="259" r:id="R256dd6970f5248aa"/>
    <p:sldId xmlns:r="http://schemas.openxmlformats.org/officeDocument/2006/relationships" id="260" r:id="Rd7fe64d806df42e1"/>
    <p:sldId xmlns:r="http://schemas.openxmlformats.org/officeDocument/2006/relationships" id="261" r:id="Rdf60d34c2f734cc0"/>
    <p:sldId xmlns:r="http://schemas.openxmlformats.org/officeDocument/2006/relationships" id="262" r:id="R5f8d36e260a347e4"/>
    <p:sldId xmlns:r="http://schemas.openxmlformats.org/officeDocument/2006/relationships" id="263" r:id="R71587a4e7a5d4364"/>
    <p:sldId xmlns:r="http://schemas.openxmlformats.org/officeDocument/2006/relationships" id="264" r:id="R384265633bd24be5"/>
    <p:sldId xmlns:r="http://schemas.openxmlformats.org/officeDocument/2006/relationships" id="265" r:id="R7ba9f03956c34593"/>
    <p:sldId xmlns:r="http://schemas.openxmlformats.org/officeDocument/2006/relationships" id="266" r:id="R74d11431e5ca4b9e"/>
    <p:sldId xmlns:r="http://schemas.openxmlformats.org/officeDocument/2006/relationships" id="267" r:id="Rd1c132e61a9d40ed"/>
    <p:sldId xmlns:r="http://schemas.openxmlformats.org/officeDocument/2006/relationships" id="268" r:id="Re7b1526abc304195"/>
    <p:sldId xmlns:r="http://schemas.openxmlformats.org/officeDocument/2006/relationships" id="269" r:id="Ra9f363b12cbc41a9"/>
    <p:sldId xmlns:r="http://schemas.openxmlformats.org/officeDocument/2006/relationships" id="270" r:id="R83018152b46d4da7"/>
    <p:sldId xmlns:r="http://schemas.openxmlformats.org/officeDocument/2006/relationships" id="271" r:id="R81d0cdefefd04d8c"/>
    <p:sldId xmlns:r="http://schemas.openxmlformats.org/officeDocument/2006/relationships" id="272" r:id="R5f38c6352cdd4dca"/>
    <p:sldId xmlns:r="http://schemas.openxmlformats.org/officeDocument/2006/relationships" id="273" r:id="R301a351c9afd48d0"/>
    <p:sldId xmlns:r="http://schemas.openxmlformats.org/officeDocument/2006/relationships" id="274" r:id="Rad617151462e489d"/>
    <p:sldId xmlns:r="http://schemas.openxmlformats.org/officeDocument/2006/relationships" id="275" r:id="Rdcec2b9d36bb4925"/>
    <p:sldId xmlns:r="http://schemas.openxmlformats.org/officeDocument/2006/relationships" id="276" r:id="R48873ed273a04d41"/>
    <p:sldId xmlns:r="http://schemas.openxmlformats.org/officeDocument/2006/relationships" id="277" r:id="Rf1920326c73a4d05"/>
    <p:sldId xmlns:r="http://schemas.openxmlformats.org/officeDocument/2006/relationships" id="278" r:id="Rb7f8bdd99c544828"/>
    <p:sldId xmlns:r="http://schemas.openxmlformats.org/officeDocument/2006/relationships" id="279" r:id="R0ff0927da1574c11"/>
    <p:sldId xmlns:r="http://schemas.openxmlformats.org/officeDocument/2006/relationships" id="280" r:id="Rb35f0b48e836422a"/>
    <p:sldId xmlns:r="http://schemas.openxmlformats.org/officeDocument/2006/relationships" id="281" r:id="R37f4020cf61544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46006c8981492f" /><Relationship Type="http://schemas.openxmlformats.org/officeDocument/2006/relationships/slideMaster" Target="/ppt/slideMasters/slideMaster1.xml" Id="R94bd56d845d0425f" /><Relationship Type="http://schemas.openxmlformats.org/officeDocument/2006/relationships/notesMaster" Target="/ppt/notesMasters/notesMaster1.xml" Id="R98070abc9b794563" /><Relationship Type="http://schemas.openxmlformats.org/officeDocument/2006/relationships/presProps" Target="/ppt/presProps.xml" Id="R0e15d6d308c14435" /><Relationship Type="http://schemas.openxmlformats.org/officeDocument/2006/relationships/tableStyles" Target="/ppt/tableStyles.xml" Id="Rf1e337c90e944e8f" /><Relationship Type="http://schemas.openxmlformats.org/officeDocument/2006/relationships/slide" Target="/ppt/slides/slide1.xml" Id="R76ef9c6a3d244bc4" /><Relationship Type="http://schemas.openxmlformats.org/officeDocument/2006/relationships/slide" Target="/ppt/slides/slide2.xml" Id="Ra62738d0192a4dc4" /><Relationship Type="http://schemas.openxmlformats.org/officeDocument/2006/relationships/slide" Target="/ppt/slides/slide3.xml" Id="R3efde708cd6f4687" /><Relationship Type="http://schemas.openxmlformats.org/officeDocument/2006/relationships/slide" Target="/ppt/slides/slide4.xml" Id="R256dd6970f5248aa" /><Relationship Type="http://schemas.openxmlformats.org/officeDocument/2006/relationships/slide" Target="/ppt/slides/slide5.xml" Id="Rd7fe64d806df42e1" /><Relationship Type="http://schemas.openxmlformats.org/officeDocument/2006/relationships/slide" Target="/ppt/slides/slide6.xml" Id="Rdf60d34c2f734cc0" /><Relationship Type="http://schemas.openxmlformats.org/officeDocument/2006/relationships/slide" Target="/ppt/slides/slide7.xml" Id="R5f8d36e260a347e4" /><Relationship Type="http://schemas.openxmlformats.org/officeDocument/2006/relationships/slide" Target="/ppt/slides/slide8.xml" Id="R71587a4e7a5d4364" /><Relationship Type="http://schemas.openxmlformats.org/officeDocument/2006/relationships/slide" Target="/ppt/slides/slide9.xml" Id="R384265633bd24be5" /><Relationship Type="http://schemas.openxmlformats.org/officeDocument/2006/relationships/slide" Target="/ppt/slides/slide10.xml" Id="R7ba9f03956c34593" /><Relationship Type="http://schemas.openxmlformats.org/officeDocument/2006/relationships/slide" Target="/ppt/slides/slide11.xml" Id="R74d11431e5ca4b9e" /><Relationship Type="http://schemas.openxmlformats.org/officeDocument/2006/relationships/slide" Target="/ppt/slides/slide12.xml" Id="Rd1c132e61a9d40ed" /><Relationship Type="http://schemas.openxmlformats.org/officeDocument/2006/relationships/slide" Target="/ppt/slides/slide13.xml" Id="Re7b1526abc304195" /><Relationship Type="http://schemas.openxmlformats.org/officeDocument/2006/relationships/slide" Target="/ppt/slides/slide14.xml" Id="Ra9f363b12cbc41a9" /><Relationship Type="http://schemas.openxmlformats.org/officeDocument/2006/relationships/slide" Target="/ppt/slides/slide15.xml" Id="R83018152b46d4da7" /><Relationship Type="http://schemas.openxmlformats.org/officeDocument/2006/relationships/slide" Target="/ppt/slides/slide16.xml" Id="R81d0cdefefd04d8c" /><Relationship Type="http://schemas.openxmlformats.org/officeDocument/2006/relationships/slide" Target="/ppt/slides/slide17.xml" Id="R5f38c6352cdd4dca" /><Relationship Type="http://schemas.openxmlformats.org/officeDocument/2006/relationships/slide" Target="/ppt/slides/slide18.xml" Id="R301a351c9afd48d0" /><Relationship Type="http://schemas.openxmlformats.org/officeDocument/2006/relationships/slide" Target="/ppt/slides/slide19.xml" Id="Rad617151462e489d" /><Relationship Type="http://schemas.openxmlformats.org/officeDocument/2006/relationships/slide" Target="/ppt/slides/slide20.xml" Id="Rdcec2b9d36bb4925" /><Relationship Type="http://schemas.openxmlformats.org/officeDocument/2006/relationships/slide" Target="/ppt/slides/slide21.xml" Id="R48873ed273a04d41" /><Relationship Type="http://schemas.openxmlformats.org/officeDocument/2006/relationships/slide" Target="/ppt/slides/slide22.xml" Id="Rf1920326c73a4d05" /><Relationship Type="http://schemas.openxmlformats.org/officeDocument/2006/relationships/slide" Target="/ppt/slides/slide23.xml" Id="Rb7f8bdd99c544828" /><Relationship Type="http://schemas.openxmlformats.org/officeDocument/2006/relationships/slide" Target="/ppt/slides/slide24.xml" Id="R0ff0927da1574c11" /><Relationship Type="http://schemas.openxmlformats.org/officeDocument/2006/relationships/slide" Target="/ppt/slides/slide25.xml" Id="Rb35f0b48e836422a" /><Relationship Type="http://schemas.openxmlformats.org/officeDocument/2006/relationships/slide" Target="/ppt/slides/slide26.xml" Id="R37f4020cf61544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ba1f98eaa445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5c226a608a475f" /><Relationship Type="http://schemas.openxmlformats.org/officeDocument/2006/relationships/notesMaster" Target="/ppt/notesMasters/notesMaster1.xml" Id="R001b8a6da8a248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971a828b614499" /><Relationship Type="http://schemas.openxmlformats.org/officeDocument/2006/relationships/notesMaster" Target="/ppt/notesMasters/notesMaster1.xml" Id="R1f6cbb371e2445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694d8fc02c41b4" /><Relationship Type="http://schemas.openxmlformats.org/officeDocument/2006/relationships/notesMaster" Target="/ppt/notesMasters/notesMaster1.xml" Id="R53cabf83d55d45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71de87f0714b07" /><Relationship Type="http://schemas.openxmlformats.org/officeDocument/2006/relationships/notesMaster" Target="/ppt/notesMasters/notesMaster1.xml" Id="R71eb8ebbd34d4b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7af877145b4377" /><Relationship Type="http://schemas.openxmlformats.org/officeDocument/2006/relationships/notesMaster" Target="/ppt/notesMasters/notesMaster1.xml" Id="R31be16478d2c47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0cc958264e41f5" /><Relationship Type="http://schemas.openxmlformats.org/officeDocument/2006/relationships/notesMaster" Target="/ppt/notesMasters/notesMaster1.xml" Id="Rcf3e22a0dab441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6d13de1b844864" /><Relationship Type="http://schemas.openxmlformats.org/officeDocument/2006/relationships/notesMaster" Target="/ppt/notesMasters/notesMaster1.xml" Id="R0c4a30c1fd0e4c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01fb8c4f3d4420" /><Relationship Type="http://schemas.openxmlformats.org/officeDocument/2006/relationships/notesMaster" Target="/ppt/notesMasters/notesMaster1.xml" Id="Rcbfa13d406644e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63e142a403415e" /><Relationship Type="http://schemas.openxmlformats.org/officeDocument/2006/relationships/notesMaster" Target="/ppt/notesMasters/notesMaster1.xml" Id="R3c4314280e7444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01fd9ff591451e" /><Relationship Type="http://schemas.openxmlformats.org/officeDocument/2006/relationships/notesMaster" Target="/ppt/notesMasters/notesMaster1.xml" Id="R496344d1bfea40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f475bebfad4ee3" /><Relationship Type="http://schemas.openxmlformats.org/officeDocument/2006/relationships/notesMaster" Target="/ppt/notesMasters/notesMaster1.xml" Id="Re1ebe7a1b80b43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133c6011274830" /><Relationship Type="http://schemas.openxmlformats.org/officeDocument/2006/relationships/notesMaster" Target="/ppt/notesMasters/notesMaster1.xml" Id="R7f14585f5ac94d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d8d937e0bb4c18" /><Relationship Type="http://schemas.openxmlformats.org/officeDocument/2006/relationships/notesMaster" Target="/ppt/notesMasters/notesMaster1.xml" Id="Red9ced221cba42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67f732d8d84f2e" /><Relationship Type="http://schemas.openxmlformats.org/officeDocument/2006/relationships/notesMaster" Target="/ppt/notesMasters/notesMaster1.xml" Id="Raee309890ef54d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3397c4b7e74494" /><Relationship Type="http://schemas.openxmlformats.org/officeDocument/2006/relationships/notesMaster" Target="/ppt/notesMasters/notesMaster1.xml" Id="R7a62c6376e5d48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95d58ca1984892" /><Relationship Type="http://schemas.openxmlformats.org/officeDocument/2006/relationships/notesMaster" Target="/ppt/notesMasters/notesMaster1.xml" Id="Re407079aaac845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f03612e8db4094" /><Relationship Type="http://schemas.openxmlformats.org/officeDocument/2006/relationships/notesMaster" Target="/ppt/notesMasters/notesMaster1.xml" Id="Rf3df77f3d7bf40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18be5a8fae402e" /><Relationship Type="http://schemas.openxmlformats.org/officeDocument/2006/relationships/notesMaster" Target="/ppt/notesMasters/notesMaster1.xml" Id="R930bc29f70544c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3124abae584a32" /><Relationship Type="http://schemas.openxmlformats.org/officeDocument/2006/relationships/notesMaster" Target="/ppt/notesMasters/notesMaster1.xml" Id="R21cd51ef492d4b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21741fcb8a47ea" /><Relationship Type="http://schemas.openxmlformats.org/officeDocument/2006/relationships/notesMaster" Target="/ppt/notesMasters/notesMaster1.xml" Id="R6fbc6503ed2749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9cd0a9297949d7" /><Relationship Type="http://schemas.openxmlformats.org/officeDocument/2006/relationships/notesMaster" Target="/ppt/notesMasters/notesMaster1.xml" Id="Re606dd89066042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9f3bfc466c4f77" /><Relationship Type="http://schemas.openxmlformats.org/officeDocument/2006/relationships/notesMaster" Target="/ppt/notesMasters/notesMaster1.xml" Id="Raebff8ec4bcb4d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9f674423134cde" /><Relationship Type="http://schemas.openxmlformats.org/officeDocument/2006/relationships/notesMaster" Target="/ppt/notesMasters/notesMaster1.xml" Id="Rdbdb3f28350c48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87fe0a98a2c4e6d" /><Relationship Type="http://schemas.openxmlformats.org/officeDocument/2006/relationships/notesMaster" Target="/ppt/notesMasters/notesMaster1.xml" Id="R01c6dff7189044e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ef9bc35a30493c" /><Relationship Type="http://schemas.openxmlformats.org/officeDocument/2006/relationships/notesMaster" Target="/ppt/notesMasters/notesMaster1.xml" Id="R2bbac128188b4c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ae4c594942246bf" /><Relationship Type="http://schemas.openxmlformats.org/officeDocument/2006/relationships/notesMaster" Target="/ppt/notesMasters/notesMaster1.xml" Id="R9f2784a0516a4e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keep all earlier text in identical positions and add only the proposed sentence.</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model assembled after the sentence-level demonstration, not an actual student submission. Count uses whitespace tokens, with after-school counted as one word.</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Teaching design follows Simon Halevi’s supplied Gem prompt. All examples are authored classroom demonstrations, not transcripts. Trainer link: https://gemini.google.com/gem/d675ebc8760b</a:t>
            </a:r>
          </a:p>
          <a:p xmlns:a="http://schemas.openxmlformats.org/drawingml/2006/main">
            <a:r>
              <a:t>Before classroom use, the teacher must enable student access to the Gem.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9854998cdd44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bfb198fc214521" /><Relationship Type="http://schemas.openxmlformats.org/officeDocument/2006/relationships/slideLayout" Target="/ppt/slideLayouts/slideLayout1.xml" Id="R29d551de9f8a45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d551de9f8a45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c7c561c3e54197" /><Relationship Type="http://schemas.openxmlformats.org/officeDocument/2006/relationships/hyperlink" Target="https://gemini.google.com/gem/d675ebc8760b" TargetMode="External" Id="R3cb369ae73be469a" /><Relationship Type="http://schemas.openxmlformats.org/officeDocument/2006/relationships/notesSlide" Target="/ppt/notesSlides/notesSlide1.xml" Id="Rdc6c29673d604a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fb008bf79b44de" /><Relationship Type="http://schemas.openxmlformats.org/officeDocument/2006/relationships/hyperlink" Target="https://gemini.google.com/gem/d675ebc8760b" TargetMode="External" Id="R46928b3a292547e2" /><Relationship Type="http://schemas.openxmlformats.org/officeDocument/2006/relationships/notesSlide" Target="/ppt/notesSlides/notesSlide2.xml" Id="R725c7cf5761440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f0fb0641b34806" /><Relationship Type="http://schemas.openxmlformats.org/officeDocument/2006/relationships/hyperlink" Target="https://gemini.google.com/gem/d675ebc8760b" TargetMode="External" Id="Re79504ca6dd14b8e" /><Relationship Type="http://schemas.openxmlformats.org/officeDocument/2006/relationships/notesSlide" Target="/ppt/notesSlides/notesSlide3.xml" Id="Ra12a5e9136004a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977d5a8b6f4c92" /><Relationship Type="http://schemas.openxmlformats.org/officeDocument/2006/relationships/hyperlink" Target="https://gemini.google.com/gem/d675ebc8760b" TargetMode="External" Id="Rbff0951181904e93" /><Relationship Type="http://schemas.openxmlformats.org/officeDocument/2006/relationships/notesSlide" Target="/ppt/notesSlides/notesSlide4.xml" Id="R5e6d625123ed48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fe80043b7649f5" /><Relationship Type="http://schemas.openxmlformats.org/officeDocument/2006/relationships/hyperlink" Target="https://gemini.google.com/gem/d675ebc8760b" TargetMode="External" Id="Rc581b29699be4f8a" /><Relationship Type="http://schemas.openxmlformats.org/officeDocument/2006/relationships/notesSlide" Target="/ppt/notesSlides/notesSlide5.xml" Id="Rf39ce62892a645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b8ab12f570478f" /><Relationship Type="http://schemas.openxmlformats.org/officeDocument/2006/relationships/hyperlink" Target="https://gemini.google.com/gem/d675ebc8760b" TargetMode="External" Id="Rf9ce76fa42814c84" /><Relationship Type="http://schemas.openxmlformats.org/officeDocument/2006/relationships/notesSlide" Target="/ppt/notesSlides/notesSlide6.xml" Id="Rcc4bfeb0c41246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50af7107be43d6" /><Relationship Type="http://schemas.openxmlformats.org/officeDocument/2006/relationships/hyperlink" Target="https://gemini.google.com/gem/d675ebc8760b" TargetMode="External" Id="Rf4702624dd28481e" /><Relationship Type="http://schemas.openxmlformats.org/officeDocument/2006/relationships/notesSlide" Target="/ppt/notesSlides/notesSlide7.xml" Id="Rf23ed572e5d147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b3e71b041f4428" /><Relationship Type="http://schemas.openxmlformats.org/officeDocument/2006/relationships/hyperlink" Target="https://gemini.google.com/gem/d675ebc8760b" TargetMode="External" Id="Rb152cd3b8b804868" /><Relationship Type="http://schemas.openxmlformats.org/officeDocument/2006/relationships/notesSlide" Target="/ppt/notesSlides/notesSlide8.xml" Id="R5d478b03cfcd4b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a58163a6a54ef9" /><Relationship Type="http://schemas.openxmlformats.org/officeDocument/2006/relationships/hyperlink" Target="https://gemini.google.com/gem/d675ebc8760b" TargetMode="External" Id="R829226d741534fa3" /><Relationship Type="http://schemas.openxmlformats.org/officeDocument/2006/relationships/notesSlide" Target="/ppt/notesSlides/notesSlide9.xml" Id="R444128c5c4604e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89b14910e14012" /><Relationship Type="http://schemas.openxmlformats.org/officeDocument/2006/relationships/hyperlink" Target="https://gemini.google.com/gem/d675ebc8760b" TargetMode="External" Id="Ra3c31b8be48b4a7a" /><Relationship Type="http://schemas.openxmlformats.org/officeDocument/2006/relationships/notesSlide" Target="/ppt/notesSlides/notesSlide10.xml" Id="R15b03a13f38e43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22a3af87714c57" /><Relationship Type="http://schemas.openxmlformats.org/officeDocument/2006/relationships/hyperlink" Target="https://gemini.google.com/gem/d675ebc8760b" TargetMode="External" Id="R97a8ef9ca9994b7e" /><Relationship Type="http://schemas.openxmlformats.org/officeDocument/2006/relationships/notesSlide" Target="/ppt/notesSlides/notesSlide11.xml" Id="Rd7753ce2113b4c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4bc307b75a4f3b" /><Relationship Type="http://schemas.openxmlformats.org/officeDocument/2006/relationships/hyperlink" Target="https://gemini.google.com/gem/d675ebc8760b" TargetMode="External" Id="Re3e4841797ca4d9c" /><Relationship Type="http://schemas.openxmlformats.org/officeDocument/2006/relationships/notesSlide" Target="/ppt/notesSlides/notesSlide12.xml" Id="Reedc52ff415d4d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e5cad4b2be4ba1" /><Relationship Type="http://schemas.openxmlformats.org/officeDocument/2006/relationships/hyperlink" Target="https://gemini.google.com/gem/d675ebc8760b" TargetMode="External" Id="Rae4394d391f7456d" /><Relationship Type="http://schemas.openxmlformats.org/officeDocument/2006/relationships/notesSlide" Target="/ppt/notesSlides/notesSlide13.xml" Id="Rd59e7618cb974a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5a055cb74b4c7e" /><Relationship Type="http://schemas.openxmlformats.org/officeDocument/2006/relationships/hyperlink" Target="https://gemini.google.com/gem/d675ebc8760b" TargetMode="External" Id="R6ad5f9d956e84fee" /><Relationship Type="http://schemas.openxmlformats.org/officeDocument/2006/relationships/notesSlide" Target="/ppt/notesSlides/notesSlide14.xml" Id="R007ec4262bcf4d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0b871a61604c9b" /><Relationship Type="http://schemas.openxmlformats.org/officeDocument/2006/relationships/hyperlink" Target="https://gemini.google.com/gem/d675ebc8760b" TargetMode="External" Id="R3b5b7469508045db" /><Relationship Type="http://schemas.openxmlformats.org/officeDocument/2006/relationships/notesSlide" Target="/ppt/notesSlides/notesSlide15.xml" Id="Rf9a763e08af140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0af57d36de4bba" /><Relationship Type="http://schemas.openxmlformats.org/officeDocument/2006/relationships/hyperlink" Target="https://gemini.google.com/gem/d675ebc8760b" TargetMode="External" Id="R3a250bae652e49f9" /><Relationship Type="http://schemas.openxmlformats.org/officeDocument/2006/relationships/notesSlide" Target="/ppt/notesSlides/notesSlide16.xml" Id="R7ea1e6501c1044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864a7ebe1545c2" /><Relationship Type="http://schemas.openxmlformats.org/officeDocument/2006/relationships/hyperlink" Target="https://gemini.google.com/gem/d675ebc8760b" TargetMode="External" Id="R617f1efb8f144c7e" /><Relationship Type="http://schemas.openxmlformats.org/officeDocument/2006/relationships/notesSlide" Target="/ppt/notesSlides/notesSlide17.xml" Id="Rcbd3d02a83c045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11fc38e0bb34283" /><Relationship Type="http://schemas.openxmlformats.org/officeDocument/2006/relationships/hyperlink" Target="https://gemini.google.com/gem/d675ebc8760b" TargetMode="External" Id="R30d567066b3943d3" /><Relationship Type="http://schemas.openxmlformats.org/officeDocument/2006/relationships/notesSlide" Target="/ppt/notesSlides/notesSlide18.xml" Id="Rfb73c21c300f42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547ba4db0b04fe4" /><Relationship Type="http://schemas.openxmlformats.org/officeDocument/2006/relationships/hyperlink" Target="https://gemini.google.com/gem/d675ebc8760b" TargetMode="External" Id="R5289fbfaca7e4241" /><Relationship Type="http://schemas.openxmlformats.org/officeDocument/2006/relationships/notesSlide" Target="/ppt/notesSlides/notesSlide19.xml" Id="Rcf0c683025ee47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37ffd8b5b64481" /><Relationship Type="http://schemas.openxmlformats.org/officeDocument/2006/relationships/hyperlink" Target="https://gemini.google.com/gem/d675ebc8760b" TargetMode="External" Id="R8de7214b7d6c4792" /><Relationship Type="http://schemas.openxmlformats.org/officeDocument/2006/relationships/notesSlide" Target="/ppt/notesSlides/notesSlide20.xml" Id="R394017fa464a45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4e041a334454dcc" /><Relationship Type="http://schemas.openxmlformats.org/officeDocument/2006/relationships/hyperlink" Target="https://gemini.google.com/gem/d675ebc8760b" TargetMode="External" Id="R424dca6e098343be" /><Relationship Type="http://schemas.openxmlformats.org/officeDocument/2006/relationships/notesSlide" Target="/ppt/notesSlides/notesSlide21.xml" Id="Rf7fac8a8b9ba40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1694265491f4371" /><Relationship Type="http://schemas.openxmlformats.org/officeDocument/2006/relationships/hyperlink" Target="https://gemini.google.com/gem/d675ebc8760b" TargetMode="External" Id="R742fa41602174465" /><Relationship Type="http://schemas.openxmlformats.org/officeDocument/2006/relationships/notesSlide" Target="/ppt/notesSlides/notesSlide22.xml" Id="Raf5188a59afa47e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2f44de6c9964d63" /><Relationship Type="http://schemas.openxmlformats.org/officeDocument/2006/relationships/hyperlink" Target="https://gemini.google.com/gem/d675ebc8760b" TargetMode="External" Id="R0438dbfa0d414e47" /><Relationship Type="http://schemas.openxmlformats.org/officeDocument/2006/relationships/notesSlide" Target="/ppt/notesSlides/notesSlide23.xml" Id="R01b2775174d847d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fe54eb53b7a4096" /><Relationship Type="http://schemas.openxmlformats.org/officeDocument/2006/relationships/hyperlink" Target="https://gemini.google.com/gem/d675ebc8760b" TargetMode="External" Id="R1256c23fae114812" /><Relationship Type="http://schemas.openxmlformats.org/officeDocument/2006/relationships/notesSlide" Target="/ppt/notesSlides/notesSlide24.xml" Id="Rdb21314dc5df43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a665ff955bd4017" /><Relationship Type="http://schemas.openxmlformats.org/officeDocument/2006/relationships/hyperlink" Target="https://gemini.google.com/gem/d675ebc8760b" TargetMode="External" Id="Rbcc787c8970049d1" /><Relationship Type="http://schemas.openxmlformats.org/officeDocument/2006/relationships/notesSlide" Target="/ppt/notesSlides/notesSlide25.xml" Id="R262d1e5e9c334e0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94636ea90394865" /><Relationship Type="http://schemas.openxmlformats.org/officeDocument/2006/relationships/hyperlink" Target="https://gemini.google.com/gem/d675ebc8760b" TargetMode="External" Id="R1580d26974a340e2" /><Relationship Type="http://schemas.openxmlformats.org/officeDocument/2006/relationships/notesSlide" Target="/ppt/notesSlides/notesSlide26.xml" Id="R1ecd39dde4944ce2" /></Relationships>
</file>

<file path=ppt/slides/slide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6D2FF2-86A5-448A-96EC-18AFB56B2AD4}"/>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4350" b="1">
                <a:solidFill>
                  <a:srgbClr val="172C42"/>
                </a:solidFill>
                <a:latin typeface="DejaVu Sans"/>
                <a:ea typeface="DejaVu Sans"/>
                <a:cs typeface="DejaVu Sans"/>
              </a:defRPr>
            </a:pPr>
            <a:r>
              <a:rPr sz="4350" b="1" lang="he-IL">
                <a:solidFill>
                  <a:srgbClr val="172C42"/>
                </a:solidFill>
                <a:latin typeface="DejaVu Sans"/>
                <a:ea typeface="DejaVu Sans"/>
                <a:cs typeface="DejaVu Sans"/>
              </a:rPr>
              <a:t>מאמן כתיבה למודול G</a:t>
            </a:r>
          </a:p>
        </p:txBody>
      </p:sp>
      <p:sp>
        <p:nvSpPr>
          <p:cNvPr id="2" name="">
            <a:extLst xmlns:a="http://schemas.openxmlformats.org/drawingml/2006/main">
              <a:ext uri="{FF2B5EF4-FFF2-40B4-BE49-F238E27FC236}">
                <a16:creationId xmlns:a16="http://schemas.microsoft.com/office/drawing/2014/main" id="{C3CBC63D-4A50-4428-B107-AB0EB3EDF7B8}"/>
              </a:ext>
            </a:extLst>
          </p:cNvPr>
          <p:cNvSpPr>
            <a:spLocks xmlns:a="http://schemas.openxmlformats.org/drawingml/2006/main" noGrp="1"/>
          </p:cNvSpPr>
          <p:nvPr/>
        </p:nvSpPr>
        <p:spPr>
          <a:xfrm xmlns:a="http://schemas.openxmlformats.org/drawingml/2006/main">
            <a:off x="666750" y="2000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550" b="0">
                <a:solidFill>
                  <a:srgbClr val="172C42"/>
                </a:solidFill>
                <a:latin typeface="DejaVu Sans"/>
                <a:ea typeface="DejaVu Sans"/>
                <a:cs typeface="DejaVu Sans"/>
              </a:defRPr>
            </a:pPr>
            <a:r>
              <a:rPr sz="2550" b="0" lang="he-IL">
                <a:solidFill>
                  <a:srgbClr val="172C42"/>
                </a:solidFill>
                <a:latin typeface="DejaVu Sans"/>
                <a:ea typeface="DejaVu Sans"/>
                <a:cs typeface="DejaVu Sans"/>
              </a:rPr>
              <a:t>כיתה י״א · 5 יחידות</a:t>
            </a:r>
          </a:p>
        </p:txBody>
      </p:sp>
      <p:sp>
        <p:nvSpPr>
          <p:cNvPr id="3" name="">
            <a:extLst xmlns:a="http://schemas.openxmlformats.org/drawingml/2006/main">
              <a:ext uri="{FF2B5EF4-FFF2-40B4-BE49-F238E27FC236}">
                <a16:creationId xmlns:a16="http://schemas.microsoft.com/office/drawing/2014/main" id="{ABB8B018-2D1A-4DC7-AA9E-8C4A033244C9}"/>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200" b="0">
                <a:solidFill>
                  <a:srgbClr val="172C42"/>
                </a:solidFill>
                <a:latin typeface="DejaVu Sans"/>
                <a:ea typeface="DejaVu Sans"/>
                <a:cs typeface="DejaVu Sans"/>
              </a:defRPr>
            </a:pPr>
            <a:r>
              <a:rPr sz="4200" b="0">
                <a:solidFill>
                  <a:srgbClr val="172C42"/>
                </a:solidFill>
                <a:latin typeface="DejaVu Sans"/>
                <a:ea typeface="DejaVu Sans"/>
                <a:cs typeface="DejaVu Sans"/>
              </a:rPr>
              <a:t>Module G Writing Coach</a:t>
            </a:r>
          </a:p>
        </p:txBody>
      </p:sp>
      <p:sp>
        <p:nvSpPr>
          <p:cNvPr id="4" name="">
            <a:extLst xmlns:a="http://schemas.openxmlformats.org/drawingml/2006/main">
              <a:ext uri="{FF2B5EF4-FFF2-40B4-BE49-F238E27FC236}">
                <a16:creationId xmlns:a16="http://schemas.microsoft.com/office/drawing/2014/main" id="{DD339CB9-3C49-41DF-9E5D-1E7422DBFE84}"/>
              </a:ext>
            </a:extLst>
          </p:cNvPr>
          <p:cNvSpPr>
            <a:spLocks xmlns:a="http://schemas.openxmlformats.org/drawingml/2006/main" noGrp="1"/>
          </p:cNvSpPr>
          <p:nvPr/>
        </p:nvSpPr>
        <p:spPr>
          <a:xfrm xmlns:a="http://schemas.openxmlformats.org/drawingml/2006/main">
            <a:off x="666750" y="4000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700" b="0">
                <a:solidFill>
                  <a:srgbClr val="172C42"/>
                </a:solidFill>
                <a:latin typeface="DejaVu Sans"/>
                <a:ea typeface="DejaVu Sans"/>
                <a:cs typeface="DejaVu Sans"/>
              </a:defRPr>
            </a:pPr>
            <a:r>
              <a:rPr sz="2700" b="0" lang="he-IL">
                <a:solidFill>
                  <a:srgbClr val="172C42"/>
                </a:solidFill>
                <a:latin typeface="DejaVu Sans"/>
                <a:ea typeface="DejaVu Sans"/>
                <a:cs typeface="DejaVu Sans"/>
              </a:rPr>
              <a:t>משפט אחד בכל פעם. ארבע פסקאות משלך.</a:t>
            </a:r>
          </a:p>
        </p:txBody>
      </p:sp>
      <p:sp>
        <p:nvSpPr>
          <p:cNvPr id="5" name="">
            <a:extLst xmlns:a="http://schemas.openxmlformats.org/drawingml/2006/main">
              <a:ext uri="{FF2B5EF4-FFF2-40B4-BE49-F238E27FC236}">
                <a16:creationId xmlns:a16="http://schemas.microsoft.com/office/drawing/2014/main" id="{4E9A918E-61B5-4202-AC88-90D2FDE1D4FF}"/>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3cb369ae73be469a"/>
              </a:rPr>
              <a:t>פתיחת המאמן</a:t>
            </a:r>
          </a:p>
        </p:txBody>
      </p:sp>
      <p:sp>
        <p:nvSpPr>
          <p:cNvPr id="6" name="">
            <a:extLst xmlns:a="http://schemas.openxmlformats.org/drawingml/2006/main">
              <a:ext uri="{FF2B5EF4-FFF2-40B4-BE49-F238E27FC236}">
                <a16:creationId xmlns:a16="http://schemas.microsoft.com/office/drawing/2014/main" id="{5313E334-29A3-4DF6-8FD5-ECC6C0F2F66C}"/>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01</a:t>
            </a:r>
          </a:p>
        </p:txBody>
      </p:sp>
    </p:spTree>
    <p:extLst>
      <p:ext uri="{BB962C8B-B14F-4D97-AF65-F5344CB8AC3E}">
        <p14:creationId xmlns:p14="http://schemas.microsoft.com/office/powerpoint/2010/main" val="65360751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81F90A-B23A-40A7-9D9D-A0EA622A355A}"/>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איך מתחילים</a:t>
            </a:r>
          </a:p>
        </p:txBody>
      </p:sp>
      <p:sp>
        <p:nvSpPr>
          <p:cNvPr id="2" name="">
            <a:extLst xmlns:a="http://schemas.openxmlformats.org/drawingml/2006/main">
              <a:ext uri="{FF2B5EF4-FFF2-40B4-BE49-F238E27FC236}">
                <a16:creationId xmlns:a16="http://schemas.microsoft.com/office/drawing/2014/main" id="{889AB7A6-46FD-4D64-AB1D-6A448AE6A024}"/>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פותחים את הקישור בתחתית השקף ונכנסים ל־Gemini.</a:t>
            </a:r>
          </a:p>
        </p:txBody>
      </p:sp>
      <p:sp>
        <p:nvSpPr>
          <p:cNvPr id="3" name="">
            <a:extLst xmlns:a="http://schemas.openxmlformats.org/drawingml/2006/main">
              <a:ext uri="{FF2B5EF4-FFF2-40B4-BE49-F238E27FC236}">
                <a16:creationId xmlns:a16="http://schemas.microsoft.com/office/drawing/2014/main" id="{CAB23218-D50A-4111-895A-FA349E499623}"/>
              </a:ext>
            </a:extLst>
          </p:cNvPr>
          <p:cNvSpPr>
            <a:spLocks xmlns:a="http://schemas.openxmlformats.org/drawingml/2006/main" noGrp="1"/>
          </p:cNvSpPr>
          <p:nvPr/>
        </p:nvSpPr>
        <p:spPr>
          <a:xfrm xmlns:a="http://schemas.openxmlformats.org/drawingml/2006/main">
            <a:off x="666750" y="2524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150" b="0">
                <a:solidFill>
                  <a:srgbClr val="172C42"/>
                </a:solidFill>
                <a:latin typeface="DejaVu Sans"/>
                <a:ea typeface="DejaVu Sans"/>
                <a:cs typeface="DejaVu Sans"/>
              </a:defRPr>
            </a:pPr>
            <a:r>
              <a:rPr sz="3150" b="0" lang="he-IL">
                <a:solidFill>
                  <a:srgbClr val="172C42"/>
                </a:solidFill>
                <a:latin typeface="DejaVu Sans"/>
                <a:ea typeface="DejaVu Sans"/>
                <a:cs typeface="DejaVu Sans"/>
              </a:rPr>
              <a:t>מקלידים: מתחילים</a:t>
            </a:r>
          </a:p>
        </p:txBody>
      </p:sp>
      <p:sp>
        <p:nvSpPr>
          <p:cNvPr id="4" name="">
            <a:extLst xmlns:a="http://schemas.openxmlformats.org/drawingml/2006/main">
              <a:ext uri="{FF2B5EF4-FFF2-40B4-BE49-F238E27FC236}">
                <a16:creationId xmlns:a16="http://schemas.microsoft.com/office/drawing/2014/main" id="{D51877D8-E154-41AB-9125-7564BC97C6F0}"/>
              </a:ext>
            </a:extLst>
          </p:cNvPr>
          <p:cNvSpPr>
            <a:spLocks xmlns:a="http://schemas.openxmlformats.org/drawingml/2006/main" noGrp="1"/>
          </p:cNvSpPr>
          <p:nvPr/>
        </p:nvSpPr>
        <p:spPr>
          <a:xfrm xmlns:a="http://schemas.openxmlformats.org/drawingml/2006/main">
            <a:off x="666750" y="3524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קוראים את הנושא שהמאמן בחר, וכותבים משפט אחד באנגלית.</a:t>
            </a:r>
          </a:p>
        </p:txBody>
      </p:sp>
      <p:sp>
        <p:nvSpPr>
          <p:cNvPr id="5" name="">
            <a:extLst xmlns:a="http://schemas.openxmlformats.org/drawingml/2006/main">
              <a:ext uri="{FF2B5EF4-FFF2-40B4-BE49-F238E27FC236}">
                <a16:creationId xmlns:a16="http://schemas.microsoft.com/office/drawing/2014/main" id="{44770B94-9CE0-4019-84CE-E91F2ACA7EF4}"/>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אם אין גישה, פונים למורה לפני תחילת התרגול.</a:t>
            </a:r>
          </a:p>
        </p:txBody>
      </p:sp>
      <p:sp>
        <p:nvSpPr>
          <p:cNvPr id="6" name="">
            <a:extLst xmlns:a="http://schemas.openxmlformats.org/drawingml/2006/main">
              <a:ext uri="{FF2B5EF4-FFF2-40B4-BE49-F238E27FC236}">
                <a16:creationId xmlns:a16="http://schemas.microsoft.com/office/drawing/2014/main" id="{25486261-79C8-4C65-A0A3-5522C63B4A62}"/>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46928b3a292547e2"/>
              </a:rPr>
              <a:t>פתיחת המאמן</a:t>
            </a:r>
          </a:p>
        </p:txBody>
      </p:sp>
      <p:sp>
        <p:nvSpPr>
          <p:cNvPr id="7" name="">
            <a:extLst xmlns:a="http://schemas.openxmlformats.org/drawingml/2006/main">
              <a:ext uri="{FF2B5EF4-FFF2-40B4-BE49-F238E27FC236}">
                <a16:creationId xmlns:a16="http://schemas.microsoft.com/office/drawing/2014/main" id="{A1367DE5-F729-4977-945B-5EA8636BD1A3}"/>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02</a:t>
            </a:r>
          </a:p>
        </p:txBody>
      </p:sp>
    </p:spTree>
    <p:extLst>
      <p:ext uri="{BB962C8B-B14F-4D97-AF65-F5344CB8AC3E}">
        <p14:creationId xmlns:p14="http://schemas.microsoft.com/office/powerpoint/2010/main" val="722000982"/>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3CC95B-CFC1-498D-A742-5EAF1CC245BB}"/>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מה עושים בכל תור</a:t>
            </a:r>
          </a:p>
        </p:txBody>
      </p:sp>
      <p:sp>
        <p:nvSpPr>
          <p:cNvPr id="2" name="">
            <a:extLst xmlns:a="http://schemas.openxmlformats.org/drawingml/2006/main">
              <a:ext uri="{FF2B5EF4-FFF2-40B4-BE49-F238E27FC236}">
                <a16:creationId xmlns:a16="http://schemas.microsoft.com/office/drawing/2014/main" id="{1E3719DB-8DBF-4E87-9978-D0631C2C4308}"/>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המאמן מסביר מה תפקיד המשפט ונותן התחלה אפשרית.</a:t>
            </a:r>
          </a:p>
        </p:txBody>
      </p:sp>
      <p:sp>
        <p:nvSpPr>
          <p:cNvPr id="3" name="">
            <a:extLst xmlns:a="http://schemas.openxmlformats.org/drawingml/2006/main">
              <a:ext uri="{FF2B5EF4-FFF2-40B4-BE49-F238E27FC236}">
                <a16:creationId xmlns:a16="http://schemas.microsoft.com/office/drawing/2014/main" id="{400B636D-8DD6-442B-A93B-1DC637A9C26F}"/>
              </a:ext>
            </a:extLst>
          </p:cNvPr>
          <p:cNvSpPr>
            <a:spLocks xmlns:a="http://schemas.openxmlformats.org/drawingml/2006/main" noGrp="1"/>
          </p:cNvSpPr>
          <p:nvPr/>
        </p:nvSpPr>
        <p:spPr>
          <a:xfrm xmlns:a="http://schemas.openxmlformats.org/drawingml/2006/main">
            <a:off x="666750" y="2667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700" b="0">
                <a:solidFill>
                  <a:srgbClr val="172C42"/>
                </a:solidFill>
                <a:latin typeface="DejaVu Sans"/>
                <a:ea typeface="DejaVu Sans"/>
                <a:cs typeface="DejaVu Sans"/>
              </a:defRPr>
            </a:pPr>
            <a:r>
              <a:rPr sz="2700" b="0" lang="he-IL">
                <a:solidFill>
                  <a:srgbClr val="172C42"/>
                </a:solidFill>
                <a:latin typeface="DejaVu Sans"/>
                <a:ea typeface="DejaVu Sans"/>
                <a:cs typeface="DejaVu Sans"/>
              </a:rPr>
              <a:t>אתם בוחרים רעיון ומנסחים אותו באנגלית.</a:t>
            </a:r>
          </a:p>
        </p:txBody>
      </p:sp>
      <p:sp>
        <p:nvSpPr>
          <p:cNvPr id="4" name="">
            <a:extLst xmlns:a="http://schemas.openxmlformats.org/drawingml/2006/main">
              <a:ext uri="{FF2B5EF4-FFF2-40B4-BE49-F238E27FC236}">
                <a16:creationId xmlns:a16="http://schemas.microsoft.com/office/drawing/2014/main" id="{3B88C763-8A38-40DE-9C44-78FDD057338F}"/>
              </a:ext>
            </a:extLst>
          </p:cNvPr>
          <p:cNvSpPr>
            <a:spLocks xmlns:a="http://schemas.openxmlformats.org/drawingml/2006/main" noGrp="1"/>
          </p:cNvSpPr>
          <p:nvPr/>
        </p:nvSpPr>
        <p:spPr>
          <a:xfrm xmlns:a="http://schemas.openxmlformats.org/drawingml/2006/main">
            <a:off x="666750" y="3714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700" b="0">
                <a:solidFill>
                  <a:srgbClr val="172C42"/>
                </a:solidFill>
                <a:latin typeface="DejaVu Sans"/>
                <a:ea typeface="DejaVu Sans"/>
                <a:cs typeface="DejaVu Sans"/>
              </a:defRPr>
            </a:pPr>
            <a:r>
              <a:rPr sz="2700" b="0" lang="he-IL">
                <a:solidFill>
                  <a:srgbClr val="172C42"/>
                </a:solidFill>
                <a:latin typeface="DejaVu Sans"/>
                <a:ea typeface="DejaVu Sans"/>
                <a:cs typeface="DejaVu Sans"/>
              </a:rPr>
              <a:t>קוראים את המשוב, מתקנים וממשיכים.</a:t>
            </a:r>
          </a:p>
        </p:txBody>
      </p:sp>
      <p:sp>
        <p:nvSpPr>
          <p:cNvPr id="5" name="">
            <a:extLst xmlns:a="http://schemas.openxmlformats.org/drawingml/2006/main">
              <a:ext uri="{FF2B5EF4-FFF2-40B4-BE49-F238E27FC236}">
                <a16:creationId xmlns:a16="http://schemas.microsoft.com/office/drawing/2014/main" id="{DE09DA6B-7C5B-426A-8002-6D7E368E7577}"/>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אפשר לבקש רמז בכל שלב.</a:t>
            </a:r>
          </a:p>
        </p:txBody>
      </p:sp>
      <p:sp>
        <p:nvSpPr>
          <p:cNvPr id="6" name="">
            <a:extLst xmlns:a="http://schemas.openxmlformats.org/drawingml/2006/main">
              <a:ext uri="{FF2B5EF4-FFF2-40B4-BE49-F238E27FC236}">
                <a16:creationId xmlns:a16="http://schemas.microsoft.com/office/drawing/2014/main" id="{56930EA3-0E5E-4B73-9FCD-42EB5FD281C6}"/>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e79504ca6dd14b8e"/>
              </a:rPr>
              <a:t>פתיחת המאמן</a:t>
            </a:r>
          </a:p>
        </p:txBody>
      </p:sp>
      <p:sp>
        <p:nvSpPr>
          <p:cNvPr id="7" name="">
            <a:extLst xmlns:a="http://schemas.openxmlformats.org/drawingml/2006/main">
              <a:ext uri="{FF2B5EF4-FFF2-40B4-BE49-F238E27FC236}">
                <a16:creationId xmlns:a16="http://schemas.microsoft.com/office/drawing/2014/main" id="{185D15E2-D742-4851-838B-1EFBF16FFBCC}"/>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03</a:t>
            </a:r>
          </a:p>
        </p:txBody>
      </p:sp>
    </p:spTree>
    <p:extLst>
      <p:ext uri="{BB962C8B-B14F-4D97-AF65-F5344CB8AC3E}">
        <p14:creationId xmlns:p14="http://schemas.microsoft.com/office/powerpoint/2010/main" val="409170731"/>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42539B-1330-46A1-8E21-972CB4253F72}"/>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ארבע פסקאות</a:t>
            </a:r>
          </a:p>
        </p:txBody>
      </p:sp>
      <p:sp>
        <p:nvSpPr>
          <p:cNvPr id="2" name="">
            <a:extLst xmlns:a="http://schemas.openxmlformats.org/drawingml/2006/main">
              <a:ext uri="{FF2B5EF4-FFF2-40B4-BE49-F238E27FC236}">
                <a16:creationId xmlns:a16="http://schemas.microsoft.com/office/drawing/2014/main" id="{7583E7C6-7377-4D9C-B7C6-1BD0082C97F3}"/>
              </a:ext>
            </a:extLst>
          </p:cNvPr>
          <p:cNvSpPr>
            <a:spLocks xmlns:a="http://schemas.openxmlformats.org/drawingml/2006/main" noGrp="1"/>
          </p:cNvSpPr>
          <p:nvPr/>
        </p:nvSpPr>
        <p:spPr>
          <a:xfrm xmlns:a="http://schemas.openxmlformats.org/drawingml/2006/main">
            <a:off x="666750" y="1524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1   פתיחה ניטרלית + עמדה</a:t>
            </a:r>
          </a:p>
        </p:txBody>
      </p:sp>
      <p:sp>
        <p:nvSpPr>
          <p:cNvPr id="3" name="">
            <a:extLst xmlns:a="http://schemas.openxmlformats.org/drawingml/2006/main">
              <a:ext uri="{FF2B5EF4-FFF2-40B4-BE49-F238E27FC236}">
                <a16:creationId xmlns:a16="http://schemas.microsoft.com/office/drawing/2014/main" id="{6702C15E-ED82-444E-8C51-71DFE815A92B}"/>
              </a:ext>
            </a:extLst>
          </p:cNvPr>
          <p:cNvSpPr>
            <a:spLocks xmlns:a="http://schemas.openxmlformats.org/drawingml/2006/main" noGrp="1"/>
          </p:cNvSpPr>
          <p:nvPr/>
        </p:nvSpPr>
        <p:spPr>
          <a:xfrm xmlns:a="http://schemas.openxmlformats.org/drawingml/2006/main">
            <a:off x="666750" y="2381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2   עמדה מנוגדת + הסבר ודוגמה</a:t>
            </a:r>
          </a:p>
        </p:txBody>
      </p:sp>
      <p:sp>
        <p:nvSpPr>
          <p:cNvPr id="4" name="">
            <a:extLst xmlns:a="http://schemas.openxmlformats.org/drawingml/2006/main">
              <a:ext uri="{FF2B5EF4-FFF2-40B4-BE49-F238E27FC236}">
                <a16:creationId xmlns:a16="http://schemas.microsoft.com/office/drawing/2014/main" id="{2B4D7BA4-D866-4764-BF28-BF95172605AF}"/>
              </a:ext>
            </a:extLst>
          </p:cNvPr>
          <p:cNvSpPr>
            <a:spLocks xmlns:a="http://schemas.openxmlformats.org/drawingml/2006/main" noGrp="1"/>
          </p:cNvSpPr>
          <p:nvPr/>
        </p:nvSpPr>
        <p:spPr>
          <a:xfrm xmlns:a="http://schemas.openxmlformats.org/drawingml/2006/main">
            <a:off x="666750" y="3238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3   תמיכה בעמדה שלי + הסבר ודוגמה</a:t>
            </a:r>
          </a:p>
        </p:txBody>
      </p:sp>
      <p:sp>
        <p:nvSpPr>
          <p:cNvPr id="5" name="">
            <a:extLst xmlns:a="http://schemas.openxmlformats.org/drawingml/2006/main">
              <a:ext uri="{FF2B5EF4-FFF2-40B4-BE49-F238E27FC236}">
                <a16:creationId xmlns:a16="http://schemas.microsoft.com/office/drawing/2014/main" id="{E095C897-4DE5-401E-AC10-0B5D7696CF14}"/>
              </a:ext>
            </a:extLst>
          </p:cNvPr>
          <p:cNvSpPr>
            <a:spLocks xmlns:a="http://schemas.openxmlformats.org/drawingml/2006/main" noGrp="1"/>
          </p:cNvSpPr>
          <p:nvPr/>
        </p:nvSpPr>
        <p:spPr>
          <a:xfrm xmlns:a="http://schemas.openxmlformats.org/drawingml/2006/main">
            <a:off x="666750" y="4095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4   מסקנה</a:t>
            </a:r>
          </a:p>
        </p:txBody>
      </p:sp>
      <p:sp>
        <p:nvSpPr>
          <p:cNvPr id="6" name="">
            <a:extLst xmlns:a="http://schemas.openxmlformats.org/drawingml/2006/main">
              <a:ext uri="{FF2B5EF4-FFF2-40B4-BE49-F238E27FC236}">
                <a16:creationId xmlns:a16="http://schemas.microsoft.com/office/drawing/2014/main" id="{EB83C748-9CA9-405A-9FD8-601CA7809E69}"/>
              </a:ext>
            </a:extLst>
          </p:cNvPr>
          <p:cNvSpPr>
            <a:spLocks xmlns:a="http://schemas.openxmlformats.org/drawingml/2006/main" noGrp="1"/>
          </p:cNvSpPr>
          <p:nvPr/>
        </p:nvSpPr>
        <p:spPr>
          <a:xfrm xmlns:a="http://schemas.openxmlformats.org/drawingml/2006/main">
            <a:off x="666750" y="5191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יעד התרגול: 120 עד 140 מילים. הרחבות נכנסות לפסקאות הגוף.</a:t>
            </a:r>
          </a:p>
        </p:txBody>
      </p:sp>
      <p:sp>
        <p:nvSpPr>
          <p:cNvPr id="7" name="">
            <a:extLst xmlns:a="http://schemas.openxmlformats.org/drawingml/2006/main">
              <a:ext uri="{FF2B5EF4-FFF2-40B4-BE49-F238E27FC236}">
                <a16:creationId xmlns:a16="http://schemas.microsoft.com/office/drawing/2014/main" id="{87B55CE5-780D-4355-88DF-E56FC5D5C805}"/>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bff0951181904e93"/>
              </a:rPr>
              <a:t>פתיחת המאמן</a:t>
            </a:r>
          </a:p>
        </p:txBody>
      </p:sp>
      <p:sp>
        <p:nvSpPr>
          <p:cNvPr id="8" name="">
            <a:extLst xmlns:a="http://schemas.openxmlformats.org/drawingml/2006/main">
              <a:ext uri="{FF2B5EF4-FFF2-40B4-BE49-F238E27FC236}">
                <a16:creationId xmlns:a16="http://schemas.microsoft.com/office/drawing/2014/main" id="{C1574E34-D082-4298-8E8F-E7E215C8F0F3}"/>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04</a:t>
            </a:r>
          </a:p>
        </p:txBody>
      </p:sp>
    </p:spTree>
    <p:extLst>
      <p:ext uri="{BB962C8B-B14F-4D97-AF65-F5344CB8AC3E}">
        <p14:creationId xmlns:p14="http://schemas.microsoft.com/office/powerpoint/2010/main" val="1005673744"/>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843896-1844-4DF4-8758-E8C92BE9E8FB}"/>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נושא ההדגמה</a:t>
            </a:r>
          </a:p>
        </p:txBody>
      </p:sp>
      <p:sp>
        <p:nvSpPr>
          <p:cNvPr id="2" name="">
            <a:extLst xmlns:a="http://schemas.openxmlformats.org/drawingml/2006/main">
              <a:ext uri="{FF2B5EF4-FFF2-40B4-BE49-F238E27FC236}">
                <a16:creationId xmlns:a16="http://schemas.microsoft.com/office/drawing/2014/main" id="{A216333A-C723-4857-89F5-BA33D976DB94}"/>
              </a:ext>
            </a:extLst>
          </p:cNvPr>
          <p:cNvSpPr>
            <a:spLocks xmlns:a="http://schemas.openxmlformats.org/drawingml/2006/main" noGrp="1"/>
          </p:cNvSpPr>
          <p:nvPr/>
        </p:nvSpPr>
        <p:spPr>
          <a:xfrm xmlns:a="http://schemas.openxmlformats.org/drawingml/2006/main">
            <a:off x="666750" y="1809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225" b="0">
                <a:solidFill>
                  <a:srgbClr val="172C42"/>
                </a:solidFill>
                <a:latin typeface="DejaVu Sans"/>
                <a:ea typeface="DejaVu Sans"/>
                <a:cs typeface="DejaVu Sans"/>
              </a:defRPr>
            </a:pPr>
            <a:r>
              <a:rPr sz="3225" b="0">
                <a:solidFill>
                  <a:srgbClr val="172C42"/>
                </a:solidFill>
                <a:latin typeface="DejaVu Sans"/>
                <a:ea typeface="DejaVu Sans"/>
                <a:cs typeface="DejaVu Sans"/>
              </a:rPr>
              <a:t>Should teenagers have an after-school job?</a:t>
            </a:r>
          </a:p>
        </p:txBody>
      </p:sp>
      <p:sp>
        <p:nvSpPr>
          <p:cNvPr id="3" name="">
            <a:extLst xmlns:a="http://schemas.openxmlformats.org/drawingml/2006/main">
              <a:ext uri="{FF2B5EF4-FFF2-40B4-BE49-F238E27FC236}">
                <a16:creationId xmlns:a16="http://schemas.microsoft.com/office/drawing/2014/main" id="{E18C42B5-CB57-42F7-9011-14CB0B17B39E}"/>
              </a:ext>
            </a:extLst>
          </p:cNvPr>
          <p:cNvSpPr>
            <a:spLocks xmlns:a="http://schemas.openxmlformats.org/drawingml/2006/main" noGrp="1"/>
          </p:cNvSpPr>
          <p:nvPr/>
        </p:nvSpPr>
        <p:spPr>
          <a:xfrm xmlns:a="http://schemas.openxmlformats.org/drawingml/2006/main">
            <a:off x="666750" y="3143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550" b="0">
                <a:solidFill>
                  <a:srgbClr val="172C42"/>
                </a:solidFill>
                <a:latin typeface="DejaVu Sans"/>
                <a:ea typeface="DejaVu Sans"/>
                <a:cs typeface="DejaVu Sans"/>
              </a:defRPr>
            </a:pPr>
            <a:r>
              <a:rPr sz="2550" b="0" lang="he-IL">
                <a:solidFill>
                  <a:srgbClr val="172C42"/>
                </a:solidFill>
                <a:latin typeface="DejaVu Sans"/>
                <a:ea typeface="DejaVu Sans"/>
                <a:cs typeface="DejaVu Sans"/>
              </a:rPr>
              <a:t>מה דעתכם? חשבו על יתרון אחד ועל קושי אחד.</a:t>
            </a:r>
          </a:p>
        </p:txBody>
      </p:sp>
      <p:sp>
        <p:nvSpPr>
          <p:cNvPr id="4" name="">
            <a:extLst xmlns:a="http://schemas.openxmlformats.org/drawingml/2006/main">
              <a:ext uri="{FF2B5EF4-FFF2-40B4-BE49-F238E27FC236}">
                <a16:creationId xmlns:a16="http://schemas.microsoft.com/office/drawing/2014/main" id="{8DFC4801-8EA9-470D-8BB7-9812F84D318D}"/>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ההדגמה הבאה היא תרחיש כיתתי. הנושא שתקבלו במאמן עשוי להיות שונה.</a:t>
            </a:r>
          </a:p>
        </p:txBody>
      </p:sp>
      <p:sp>
        <p:nvSpPr>
          <p:cNvPr id="5" name="">
            <a:extLst xmlns:a="http://schemas.openxmlformats.org/drawingml/2006/main">
              <a:ext uri="{FF2B5EF4-FFF2-40B4-BE49-F238E27FC236}">
                <a16:creationId xmlns:a16="http://schemas.microsoft.com/office/drawing/2014/main" id="{1C96003C-CD4C-421F-816A-D6B091E29FCE}"/>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c581b29699be4f8a"/>
              </a:rPr>
              <a:t>פתיחת המאמן</a:t>
            </a:r>
          </a:p>
        </p:txBody>
      </p:sp>
      <p:sp>
        <p:nvSpPr>
          <p:cNvPr id="6" name="">
            <a:extLst xmlns:a="http://schemas.openxmlformats.org/drawingml/2006/main">
              <a:ext uri="{FF2B5EF4-FFF2-40B4-BE49-F238E27FC236}">
                <a16:creationId xmlns:a16="http://schemas.microsoft.com/office/drawing/2014/main" id="{29E4272C-6E0D-441D-B42B-B28C95A54F00}"/>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05</a:t>
            </a:r>
          </a:p>
        </p:txBody>
      </p:sp>
    </p:spTree>
    <p:extLst>
      <p:ext uri="{BB962C8B-B14F-4D97-AF65-F5344CB8AC3E}">
        <p14:creationId xmlns:p14="http://schemas.microsoft.com/office/powerpoint/2010/main" val="932178727"/>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10F76A-A6B9-4B82-B094-3E9C09982AE6}"/>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הדוגמה של המאמן</a:t>
            </a:r>
          </a:p>
        </p:txBody>
      </p:sp>
      <p:sp>
        <p:nvSpPr>
          <p:cNvPr id="2" name="">
            <a:extLst xmlns:a="http://schemas.openxmlformats.org/drawingml/2006/main">
              <a:ext uri="{FF2B5EF4-FFF2-40B4-BE49-F238E27FC236}">
                <a16:creationId xmlns:a16="http://schemas.microsoft.com/office/drawing/2014/main" id="{4C37C2ED-71CD-47B4-8570-ED4DB32E5E99}"/>
              </a:ext>
            </a:extLst>
          </p:cNvPr>
          <p:cNvSpPr>
            <a:spLocks xmlns:a="http://schemas.openxmlformats.org/drawingml/2006/main" noGrp="1"/>
          </p:cNvSpPr>
          <p:nvPr/>
        </p:nvSpPr>
        <p:spPr>
          <a:xfrm xmlns:a="http://schemas.openxmlformats.org/drawingml/2006/main">
            <a:off x="666750" y="1524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הנושא שלכם: עבודה אחרי הלימודים</a:t>
            </a:r>
          </a:p>
        </p:txBody>
      </p:sp>
      <p:sp>
        <p:nvSpPr>
          <p:cNvPr id="3" name="">
            <a:extLst xmlns:a="http://schemas.openxmlformats.org/drawingml/2006/main">
              <a:ext uri="{FF2B5EF4-FFF2-40B4-BE49-F238E27FC236}">
                <a16:creationId xmlns:a16="http://schemas.microsoft.com/office/drawing/2014/main" id="{4787A34B-45CB-40FC-9C94-ECB47E2312CE}"/>
              </a:ext>
            </a:extLst>
          </p:cNvPr>
          <p:cNvSpPr>
            <a:spLocks xmlns:a="http://schemas.openxmlformats.org/drawingml/2006/main" noGrp="1"/>
          </p:cNvSpPr>
          <p:nvPr/>
        </p:nvSpPr>
        <p:spPr>
          <a:xfrm xmlns:a="http://schemas.openxmlformats.org/drawingml/2006/main">
            <a:off x="666750" y="2381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נושא הדוגמאות של המאמן: גיל קבלת טלפון</a:t>
            </a:r>
          </a:p>
        </p:txBody>
      </p:sp>
      <p:sp>
        <p:nvSpPr>
          <p:cNvPr id="4" name="">
            <a:extLst xmlns:a="http://schemas.openxmlformats.org/drawingml/2006/main">
              <a:ext uri="{FF2B5EF4-FFF2-40B4-BE49-F238E27FC236}">
                <a16:creationId xmlns:a16="http://schemas.microsoft.com/office/drawing/2014/main" id="{84164ECC-7068-411B-A86A-ED5AEA80519F}"/>
              </a:ext>
            </a:extLst>
          </p:cNvPr>
          <p:cNvSpPr>
            <a:spLocks xmlns:a="http://schemas.openxmlformats.org/drawingml/2006/main" noGrp="1"/>
          </p:cNvSpPr>
          <p:nvPr/>
        </p:nvSpPr>
        <p:spPr>
          <a:xfrm xmlns:a="http://schemas.openxmlformats.org/drawingml/2006/main">
            <a:off x="666750" y="3238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550" b="0">
                <a:solidFill>
                  <a:srgbClr val="172C42"/>
                </a:solidFill>
                <a:latin typeface="DejaVu Sans"/>
                <a:ea typeface="DejaVu Sans"/>
                <a:cs typeface="DejaVu Sans"/>
              </a:defRPr>
            </a:pPr>
            <a:r>
              <a:rPr sz="2550" b="0">
                <a:solidFill>
                  <a:srgbClr val="172C42"/>
                </a:solidFill>
                <a:latin typeface="DejaVu Sans"/>
                <a:ea typeface="DejaVu Sans"/>
                <a:cs typeface="DejaVu Sans"/>
              </a:rPr>
              <a:t>Many parents discuss when children should get their first cellphone.</a:t>
            </a:r>
          </a:p>
        </p:txBody>
      </p:sp>
      <p:sp>
        <p:nvSpPr>
          <p:cNvPr id="5" name="">
            <a:extLst xmlns:a="http://schemas.openxmlformats.org/drawingml/2006/main">
              <a:ext uri="{FF2B5EF4-FFF2-40B4-BE49-F238E27FC236}">
                <a16:creationId xmlns:a16="http://schemas.microsoft.com/office/drawing/2014/main" id="{5078B3D9-3C7D-4E2D-8AA5-6516D8E810A7}"/>
              </a:ext>
            </a:extLst>
          </p:cNvPr>
          <p:cNvSpPr>
            <a:spLocks xmlns:a="http://schemas.openxmlformats.org/drawingml/2006/main" noGrp="1"/>
          </p:cNvSpPr>
          <p:nvPr/>
        </p:nvSpPr>
        <p:spPr>
          <a:xfrm xmlns:a="http://schemas.openxmlformats.org/drawingml/2006/main">
            <a:off x="666750" y="4572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לומדים מהמשפט את המבנה, ואז כותבים רעיון שמתאים לנושא שלכם.</a:t>
            </a:r>
          </a:p>
        </p:txBody>
      </p:sp>
      <p:sp>
        <p:nvSpPr>
          <p:cNvPr id="6" name="">
            <a:extLst xmlns:a="http://schemas.openxmlformats.org/drawingml/2006/main">
              <a:ext uri="{FF2B5EF4-FFF2-40B4-BE49-F238E27FC236}">
                <a16:creationId xmlns:a16="http://schemas.microsoft.com/office/drawing/2014/main" id="{4AB5A5F3-F7DB-4391-BC09-394345FA11B1}"/>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f9ce76fa42814c84"/>
              </a:rPr>
              <a:t>פתיחת המאמן</a:t>
            </a:r>
          </a:p>
        </p:txBody>
      </p:sp>
      <p:sp>
        <p:nvSpPr>
          <p:cNvPr id="7" name="">
            <a:extLst xmlns:a="http://schemas.openxmlformats.org/drawingml/2006/main">
              <a:ext uri="{FF2B5EF4-FFF2-40B4-BE49-F238E27FC236}">
                <a16:creationId xmlns:a16="http://schemas.microsoft.com/office/drawing/2014/main" id="{3596B05E-797C-407E-A9C6-47C2D1879345}"/>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06</a:t>
            </a:r>
          </a:p>
        </p:txBody>
      </p:sp>
    </p:spTree>
    <p:extLst>
      <p:ext uri="{BB962C8B-B14F-4D97-AF65-F5344CB8AC3E}">
        <p14:creationId xmlns:p14="http://schemas.microsoft.com/office/powerpoint/2010/main" val="1222062216"/>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7CAF1-E854-4A66-9F61-45C2179EF090}"/>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משפט פתיחה</a:t>
            </a:r>
          </a:p>
        </p:txBody>
      </p:sp>
      <p:sp>
        <p:nvSpPr>
          <p:cNvPr id="2" name="">
            <a:extLst xmlns:a="http://schemas.openxmlformats.org/drawingml/2006/main">
              <a:ext uri="{FF2B5EF4-FFF2-40B4-BE49-F238E27FC236}">
                <a16:creationId xmlns:a16="http://schemas.microsoft.com/office/drawing/2014/main" id="{04F39E36-AF80-4662-9CE0-89534866B8B8}"/>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פתיחה מציגה את הנושא. עדיין אין בה עמדה.</a:t>
            </a:r>
          </a:p>
        </p:txBody>
      </p:sp>
      <p:sp>
        <p:nvSpPr>
          <p:cNvPr id="3" name="">
            <a:extLst xmlns:a="http://schemas.openxmlformats.org/drawingml/2006/main">
              <a:ext uri="{FF2B5EF4-FFF2-40B4-BE49-F238E27FC236}">
                <a16:creationId xmlns:a16="http://schemas.microsoft.com/office/drawing/2014/main" id="{4DBFF7A6-472C-4B2E-9AD2-F3E66084C934}"/>
              </a:ext>
            </a:extLst>
          </p:cNvPr>
          <p:cNvSpPr>
            <a:spLocks xmlns:a="http://schemas.openxmlformats.org/drawingml/2006/main" noGrp="1"/>
          </p:cNvSpPr>
          <p:nvPr/>
        </p:nvSpPr>
        <p:spPr>
          <a:xfrm xmlns:a="http://schemas.openxmlformats.org/drawingml/2006/main">
            <a:off x="666750" y="2571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450" b="0">
                <a:solidFill>
                  <a:srgbClr val="172C42"/>
                </a:solidFill>
                <a:latin typeface="DejaVu Sans"/>
                <a:ea typeface="DejaVu Sans"/>
                <a:cs typeface="DejaVu Sans"/>
              </a:defRPr>
            </a:pPr>
            <a:r>
              <a:rPr sz="3450" b="0">
                <a:solidFill>
                  <a:srgbClr val="172C42"/>
                </a:solidFill>
                <a:latin typeface="DejaVu Sans"/>
                <a:ea typeface="DejaVu Sans"/>
                <a:cs typeface="DejaVu Sans"/>
              </a:rPr>
              <a:t>Many teenagers…</a:t>
            </a:r>
          </a:p>
        </p:txBody>
      </p:sp>
      <p:sp>
        <p:nvSpPr>
          <p:cNvPr id="4" name="">
            <a:extLst xmlns:a="http://schemas.openxmlformats.org/drawingml/2006/main">
              <a:ext uri="{FF2B5EF4-FFF2-40B4-BE49-F238E27FC236}">
                <a16:creationId xmlns:a16="http://schemas.microsoft.com/office/drawing/2014/main" id="{3ABA4A18-5B75-4B70-BCDE-B6352AA14557}"/>
              </a:ext>
            </a:extLst>
          </p:cNvPr>
          <p:cNvSpPr>
            <a:spLocks xmlns:a="http://schemas.openxmlformats.org/drawingml/2006/main" noGrp="1"/>
          </p:cNvSpPr>
          <p:nvPr/>
        </p:nvSpPr>
        <p:spPr>
          <a:xfrm xmlns:a="http://schemas.openxmlformats.org/drawingml/2006/main">
            <a:off x="666750" y="3810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75" b="0">
                <a:solidFill>
                  <a:srgbClr val="172C42"/>
                </a:solidFill>
                <a:latin typeface="DejaVu Sans"/>
                <a:ea typeface="DejaVu Sans"/>
                <a:cs typeface="DejaVu Sans"/>
              </a:defRPr>
            </a:pPr>
            <a:r>
              <a:rPr sz="2475" b="0" lang="he-IL">
                <a:solidFill>
                  <a:srgbClr val="172C42"/>
                </a:solidFill>
                <a:latin typeface="DejaVu Sans"/>
                <a:ea typeface="DejaVu Sans"/>
                <a:cs typeface="DejaVu Sans"/>
              </a:rPr>
              <a:t>כתבו במחברת משפט ניטרלי. לרשותכם 30 שניות.</a:t>
            </a:r>
          </a:p>
        </p:txBody>
      </p:sp>
      <p:sp>
        <p:nvSpPr>
          <p:cNvPr id="5" name="">
            <a:extLst xmlns:a="http://schemas.openxmlformats.org/drawingml/2006/main">
              <a:ext uri="{FF2B5EF4-FFF2-40B4-BE49-F238E27FC236}">
                <a16:creationId xmlns:a16="http://schemas.microsoft.com/office/drawing/2014/main" id="{0D2D96FD-39AB-48A1-823B-C32FF8A942E4}"/>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הצעה תופיע בשקף הבא.</a:t>
            </a:r>
          </a:p>
        </p:txBody>
      </p:sp>
      <p:sp>
        <p:nvSpPr>
          <p:cNvPr id="6" name="">
            <a:extLst xmlns:a="http://schemas.openxmlformats.org/drawingml/2006/main">
              <a:ext uri="{FF2B5EF4-FFF2-40B4-BE49-F238E27FC236}">
                <a16:creationId xmlns:a16="http://schemas.microsoft.com/office/drawing/2014/main" id="{D5B973E7-7504-469C-8F71-3C2FF93F2704}"/>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f4702624dd28481e"/>
              </a:rPr>
              <a:t>פתיחת המאמן</a:t>
            </a:r>
          </a:p>
        </p:txBody>
      </p:sp>
      <p:sp>
        <p:nvSpPr>
          <p:cNvPr id="7" name="">
            <a:extLst xmlns:a="http://schemas.openxmlformats.org/drawingml/2006/main">
              <a:ext uri="{FF2B5EF4-FFF2-40B4-BE49-F238E27FC236}">
                <a16:creationId xmlns:a16="http://schemas.microsoft.com/office/drawing/2014/main" id="{B1069A14-32F0-441C-B664-58E89B2BC95A}"/>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07</a:t>
            </a:r>
          </a:p>
        </p:txBody>
      </p:sp>
    </p:spTree>
    <p:extLst>
      <p:ext uri="{BB962C8B-B14F-4D97-AF65-F5344CB8AC3E}">
        <p14:creationId xmlns:p14="http://schemas.microsoft.com/office/powerpoint/2010/main" val="908874130"/>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7A3459-19A7-4883-9F0F-555BA09CE398}"/>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משפט פתיחה</a:t>
            </a:r>
          </a:p>
        </p:txBody>
      </p:sp>
      <p:sp>
        <p:nvSpPr>
          <p:cNvPr id="2" name="">
            <a:extLst xmlns:a="http://schemas.openxmlformats.org/drawingml/2006/main">
              <a:ext uri="{FF2B5EF4-FFF2-40B4-BE49-F238E27FC236}">
                <a16:creationId xmlns:a16="http://schemas.microsoft.com/office/drawing/2014/main" id="{C885D469-E0DE-450E-9AE5-3B452FC02EF5}"/>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פתיחה מציגה את הנושא. עדיין אין בה עמדה.</a:t>
            </a:r>
          </a:p>
        </p:txBody>
      </p:sp>
      <p:sp>
        <p:nvSpPr>
          <p:cNvPr id="3" name="">
            <a:extLst xmlns:a="http://schemas.openxmlformats.org/drawingml/2006/main">
              <a:ext uri="{FF2B5EF4-FFF2-40B4-BE49-F238E27FC236}">
                <a16:creationId xmlns:a16="http://schemas.microsoft.com/office/drawing/2014/main" id="{066F70AC-268B-4211-81B0-015092ED7A64}"/>
              </a:ext>
            </a:extLst>
          </p:cNvPr>
          <p:cNvSpPr>
            <a:spLocks xmlns:a="http://schemas.openxmlformats.org/drawingml/2006/main" noGrp="1"/>
          </p:cNvSpPr>
          <p:nvPr/>
        </p:nvSpPr>
        <p:spPr>
          <a:xfrm xmlns:a="http://schemas.openxmlformats.org/drawingml/2006/main">
            <a:off x="666750" y="2571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450" b="0">
                <a:solidFill>
                  <a:srgbClr val="172C42"/>
                </a:solidFill>
                <a:latin typeface="DejaVu Sans"/>
                <a:ea typeface="DejaVu Sans"/>
                <a:cs typeface="DejaVu Sans"/>
              </a:defRPr>
            </a:pPr>
            <a:r>
              <a:rPr sz="3450" b="0">
                <a:solidFill>
                  <a:srgbClr val="172C42"/>
                </a:solidFill>
                <a:latin typeface="DejaVu Sans"/>
                <a:ea typeface="DejaVu Sans"/>
                <a:cs typeface="DejaVu Sans"/>
              </a:rPr>
              <a:t>Many teenagers…</a:t>
            </a:r>
          </a:p>
        </p:txBody>
      </p:sp>
      <p:sp>
        <p:nvSpPr>
          <p:cNvPr id="4" name="">
            <a:extLst xmlns:a="http://schemas.openxmlformats.org/drawingml/2006/main">
              <a:ext uri="{FF2B5EF4-FFF2-40B4-BE49-F238E27FC236}">
                <a16:creationId xmlns:a16="http://schemas.microsoft.com/office/drawing/2014/main" id="{247900F0-52B4-4E17-9259-E8C8A491E9EB}"/>
              </a:ext>
            </a:extLst>
          </p:cNvPr>
          <p:cNvSpPr>
            <a:spLocks xmlns:a="http://schemas.openxmlformats.org/drawingml/2006/main" noGrp="1"/>
          </p:cNvSpPr>
          <p:nvPr/>
        </p:nvSpPr>
        <p:spPr>
          <a:xfrm xmlns:a="http://schemas.openxmlformats.org/drawingml/2006/main">
            <a:off x="666750" y="3810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75" b="0">
                <a:solidFill>
                  <a:srgbClr val="172C42"/>
                </a:solidFill>
                <a:latin typeface="DejaVu Sans"/>
                <a:ea typeface="DejaVu Sans"/>
                <a:cs typeface="DejaVu Sans"/>
              </a:defRPr>
            </a:pPr>
            <a:r>
              <a:rPr sz="2475" b="0" lang="he-IL">
                <a:solidFill>
                  <a:srgbClr val="172C42"/>
                </a:solidFill>
                <a:latin typeface="DejaVu Sans"/>
                <a:ea typeface="DejaVu Sans"/>
                <a:cs typeface="DejaVu Sans"/>
              </a:rPr>
              <a:t>כתבו במחברת משפט ניטרלי. לרשותכם 30 שניות.</a:t>
            </a:r>
          </a:p>
        </p:txBody>
      </p:sp>
      <p:sp>
        <p:nvSpPr>
          <p:cNvPr id="5" name="">
            <a:extLst xmlns:a="http://schemas.openxmlformats.org/drawingml/2006/main">
              <a:ext uri="{FF2B5EF4-FFF2-40B4-BE49-F238E27FC236}">
                <a16:creationId xmlns:a16="http://schemas.microsoft.com/office/drawing/2014/main" id="{B1878118-9517-4516-BCF9-DEE8AF6DC5BE}"/>
              </a:ext>
            </a:extLst>
          </p:cNvPr>
          <p:cNvSpPr>
            <a:spLocks xmlns:a="http://schemas.openxmlformats.org/drawingml/2006/main" noGrp="1"/>
          </p:cNvSpPr>
          <p:nvPr/>
        </p:nvSpPr>
        <p:spPr>
          <a:xfrm xmlns:a="http://schemas.openxmlformats.org/drawingml/2006/main">
            <a:off x="666750" y="4810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72C42"/>
                </a:solidFill>
                <a:latin typeface="DejaVu Sans"/>
                <a:ea typeface="DejaVu Sans"/>
                <a:cs typeface="DejaVu Sans"/>
              </a:defRPr>
            </a:pPr>
            <a:r>
              <a:rPr sz="2250" b="0">
                <a:solidFill>
                  <a:srgbClr val="172C42"/>
                </a:solidFill>
                <a:latin typeface="DejaVu Sans"/>
                <a:ea typeface="DejaVu Sans"/>
                <a:cs typeface="DejaVu Sans"/>
              </a:rPr>
              <a:t>Many teenagers consider getting a job while they are still at school.</a:t>
            </a:r>
          </a:p>
        </p:txBody>
      </p:sp>
      <p:sp>
        <p:nvSpPr>
          <p:cNvPr id="6" name="">
            <a:extLst xmlns:a="http://schemas.openxmlformats.org/drawingml/2006/main">
              <a:ext uri="{FF2B5EF4-FFF2-40B4-BE49-F238E27FC236}">
                <a16:creationId xmlns:a16="http://schemas.microsoft.com/office/drawing/2014/main" id="{4AAFF277-7B37-4417-86D7-97C5B0420253}"/>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b152cd3b8b804868"/>
              </a:rPr>
              <a:t>פתיחת המאמן</a:t>
            </a:r>
          </a:p>
        </p:txBody>
      </p:sp>
      <p:sp>
        <p:nvSpPr>
          <p:cNvPr id="7" name="">
            <a:extLst xmlns:a="http://schemas.openxmlformats.org/drawingml/2006/main">
              <a:ext uri="{FF2B5EF4-FFF2-40B4-BE49-F238E27FC236}">
                <a16:creationId xmlns:a16="http://schemas.microsoft.com/office/drawing/2014/main" id="{2DCB4A3D-36F3-4A2A-8357-FC2E6BE404DD}"/>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08</a:t>
            </a:r>
          </a:p>
        </p:txBody>
      </p:sp>
    </p:spTree>
    <p:extLst>
      <p:ext uri="{BB962C8B-B14F-4D97-AF65-F5344CB8AC3E}">
        <p14:creationId xmlns:p14="http://schemas.microsoft.com/office/powerpoint/2010/main" val="641981361"/>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8632E-5D68-499F-A915-666E05C14ECE}"/>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משפט עמדה</a:t>
            </a:r>
          </a:p>
        </p:txBody>
      </p:sp>
      <p:sp>
        <p:nvSpPr>
          <p:cNvPr id="2" name="">
            <a:extLst xmlns:a="http://schemas.openxmlformats.org/drawingml/2006/main">
              <a:ext uri="{FF2B5EF4-FFF2-40B4-BE49-F238E27FC236}">
                <a16:creationId xmlns:a16="http://schemas.microsoft.com/office/drawing/2014/main" id="{2FEB7ADC-D04C-4647-897B-791D688CEFA4}"/>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העמדה עונה על השאלה, ואפשר להוסיף לה תנאי או גבול.</a:t>
            </a:r>
          </a:p>
        </p:txBody>
      </p:sp>
      <p:sp>
        <p:nvSpPr>
          <p:cNvPr id="3" name="">
            <a:extLst xmlns:a="http://schemas.openxmlformats.org/drawingml/2006/main">
              <a:ext uri="{FF2B5EF4-FFF2-40B4-BE49-F238E27FC236}">
                <a16:creationId xmlns:a16="http://schemas.microsoft.com/office/drawing/2014/main" id="{C516FADD-F1C7-4545-A37C-645C525DF938}"/>
              </a:ext>
            </a:extLst>
          </p:cNvPr>
          <p:cNvSpPr>
            <a:spLocks xmlns:a="http://schemas.openxmlformats.org/drawingml/2006/main" noGrp="1"/>
          </p:cNvSpPr>
          <p:nvPr/>
        </p:nvSpPr>
        <p:spPr>
          <a:xfrm xmlns:a="http://schemas.openxmlformats.org/drawingml/2006/main">
            <a:off x="666750" y="2571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450" b="0">
                <a:solidFill>
                  <a:srgbClr val="172C42"/>
                </a:solidFill>
                <a:latin typeface="DejaVu Sans"/>
                <a:ea typeface="DejaVu Sans"/>
                <a:cs typeface="DejaVu Sans"/>
              </a:defRPr>
            </a:pPr>
            <a:r>
              <a:rPr sz="3450" b="0">
                <a:solidFill>
                  <a:srgbClr val="172C42"/>
                </a:solidFill>
                <a:latin typeface="DejaVu Sans"/>
                <a:ea typeface="DejaVu Sans"/>
                <a:cs typeface="DejaVu Sans"/>
              </a:rPr>
              <a:t>I claim that…</a:t>
            </a:r>
          </a:p>
        </p:txBody>
      </p:sp>
      <p:sp>
        <p:nvSpPr>
          <p:cNvPr id="4" name="">
            <a:extLst xmlns:a="http://schemas.openxmlformats.org/drawingml/2006/main">
              <a:ext uri="{FF2B5EF4-FFF2-40B4-BE49-F238E27FC236}">
                <a16:creationId xmlns:a16="http://schemas.microsoft.com/office/drawing/2014/main" id="{E3B36718-1211-47FF-82B1-A54F824D20F5}"/>
              </a:ext>
            </a:extLst>
          </p:cNvPr>
          <p:cNvSpPr>
            <a:spLocks xmlns:a="http://schemas.openxmlformats.org/drawingml/2006/main" noGrp="1"/>
          </p:cNvSpPr>
          <p:nvPr/>
        </p:nvSpPr>
        <p:spPr>
          <a:xfrm xmlns:a="http://schemas.openxmlformats.org/drawingml/2006/main">
            <a:off x="666750" y="37623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325" b="0">
                <a:solidFill>
                  <a:srgbClr val="172C42"/>
                </a:solidFill>
                <a:latin typeface="DejaVu Sans"/>
                <a:ea typeface="DejaVu Sans"/>
                <a:cs typeface="DejaVu Sans"/>
              </a:defRPr>
            </a:pPr>
            <a:r>
              <a:rPr sz="2325" b="0" lang="he-IL">
                <a:solidFill>
                  <a:srgbClr val="172C42"/>
                </a:solidFill>
                <a:latin typeface="DejaVu Sans"/>
                <a:ea typeface="DejaVu Sans"/>
                <a:cs typeface="DejaVu Sans"/>
              </a:rPr>
              <a:t>איזו עמדה תרצו לפתח: בעד, נגד, או בעד בתנאים מסוימים?</a:t>
            </a:r>
          </a:p>
        </p:txBody>
      </p:sp>
      <p:sp>
        <p:nvSpPr>
          <p:cNvPr id="5" name="">
            <a:extLst xmlns:a="http://schemas.openxmlformats.org/drawingml/2006/main">
              <a:ext uri="{FF2B5EF4-FFF2-40B4-BE49-F238E27FC236}">
                <a16:creationId xmlns:a16="http://schemas.microsoft.com/office/drawing/2014/main" id="{822B4944-7521-453A-B9F7-A0CD685DEDA8}"/>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כתבו משפט משלכם לפני המעבר לשקף הבא.</a:t>
            </a:r>
          </a:p>
        </p:txBody>
      </p:sp>
      <p:sp>
        <p:nvSpPr>
          <p:cNvPr id="6" name="">
            <a:extLst xmlns:a="http://schemas.openxmlformats.org/drawingml/2006/main">
              <a:ext uri="{FF2B5EF4-FFF2-40B4-BE49-F238E27FC236}">
                <a16:creationId xmlns:a16="http://schemas.microsoft.com/office/drawing/2014/main" id="{048B4461-8A8D-43E6-A626-F0EFD7C7E2BF}"/>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829226d741534fa3"/>
              </a:rPr>
              <a:t>פתיחת המאמן</a:t>
            </a:r>
          </a:p>
        </p:txBody>
      </p:sp>
      <p:sp>
        <p:nvSpPr>
          <p:cNvPr id="7" name="">
            <a:extLst xmlns:a="http://schemas.openxmlformats.org/drawingml/2006/main">
              <a:ext uri="{FF2B5EF4-FFF2-40B4-BE49-F238E27FC236}">
                <a16:creationId xmlns:a16="http://schemas.microsoft.com/office/drawing/2014/main" id="{447CA0E8-9762-4A68-A519-2C17BDDAB6E9}"/>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09</a:t>
            </a:r>
          </a:p>
        </p:txBody>
      </p:sp>
    </p:spTree>
    <p:extLst>
      <p:ext uri="{BB962C8B-B14F-4D97-AF65-F5344CB8AC3E}">
        <p14:creationId xmlns:p14="http://schemas.microsoft.com/office/powerpoint/2010/main" val="926674510"/>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8D30C0-A8F8-4401-9C01-610BA4897542}"/>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משפט עמדה</a:t>
            </a:r>
          </a:p>
        </p:txBody>
      </p:sp>
      <p:sp>
        <p:nvSpPr>
          <p:cNvPr id="2" name="">
            <a:extLst xmlns:a="http://schemas.openxmlformats.org/drawingml/2006/main">
              <a:ext uri="{FF2B5EF4-FFF2-40B4-BE49-F238E27FC236}">
                <a16:creationId xmlns:a16="http://schemas.microsoft.com/office/drawing/2014/main" id="{C6C2A730-092B-453E-84C8-AD58C446BECF}"/>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העמדה עונה על השאלה, ואפשר להוסיף לה תנאי או גבול.</a:t>
            </a:r>
          </a:p>
        </p:txBody>
      </p:sp>
      <p:sp>
        <p:nvSpPr>
          <p:cNvPr id="3" name="">
            <a:extLst xmlns:a="http://schemas.openxmlformats.org/drawingml/2006/main">
              <a:ext uri="{FF2B5EF4-FFF2-40B4-BE49-F238E27FC236}">
                <a16:creationId xmlns:a16="http://schemas.microsoft.com/office/drawing/2014/main" id="{5B34707F-B4E9-483C-B255-C73C0004E36E}"/>
              </a:ext>
            </a:extLst>
          </p:cNvPr>
          <p:cNvSpPr>
            <a:spLocks xmlns:a="http://schemas.openxmlformats.org/drawingml/2006/main" noGrp="1"/>
          </p:cNvSpPr>
          <p:nvPr/>
        </p:nvSpPr>
        <p:spPr>
          <a:xfrm xmlns:a="http://schemas.openxmlformats.org/drawingml/2006/main">
            <a:off x="666750" y="2571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450" b="0">
                <a:solidFill>
                  <a:srgbClr val="172C42"/>
                </a:solidFill>
                <a:latin typeface="DejaVu Sans"/>
                <a:ea typeface="DejaVu Sans"/>
                <a:cs typeface="DejaVu Sans"/>
              </a:defRPr>
            </a:pPr>
            <a:r>
              <a:rPr sz="3450" b="0">
                <a:solidFill>
                  <a:srgbClr val="172C42"/>
                </a:solidFill>
                <a:latin typeface="DejaVu Sans"/>
                <a:ea typeface="DejaVu Sans"/>
                <a:cs typeface="DejaVu Sans"/>
              </a:rPr>
              <a:t>I claim that…</a:t>
            </a:r>
          </a:p>
        </p:txBody>
      </p:sp>
      <p:sp>
        <p:nvSpPr>
          <p:cNvPr id="4" name="">
            <a:extLst xmlns:a="http://schemas.openxmlformats.org/drawingml/2006/main">
              <a:ext uri="{FF2B5EF4-FFF2-40B4-BE49-F238E27FC236}">
                <a16:creationId xmlns:a16="http://schemas.microsoft.com/office/drawing/2014/main" id="{E3A85FCB-60B2-4460-BC91-175D05872393}"/>
              </a:ext>
            </a:extLst>
          </p:cNvPr>
          <p:cNvSpPr>
            <a:spLocks xmlns:a="http://schemas.openxmlformats.org/drawingml/2006/main" noGrp="1"/>
          </p:cNvSpPr>
          <p:nvPr/>
        </p:nvSpPr>
        <p:spPr>
          <a:xfrm xmlns:a="http://schemas.openxmlformats.org/drawingml/2006/main">
            <a:off x="666750" y="37623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325" b="0">
                <a:solidFill>
                  <a:srgbClr val="172C42"/>
                </a:solidFill>
                <a:latin typeface="DejaVu Sans"/>
                <a:ea typeface="DejaVu Sans"/>
                <a:cs typeface="DejaVu Sans"/>
              </a:defRPr>
            </a:pPr>
            <a:r>
              <a:rPr sz="2325" b="0" lang="he-IL">
                <a:solidFill>
                  <a:srgbClr val="172C42"/>
                </a:solidFill>
                <a:latin typeface="DejaVu Sans"/>
                <a:ea typeface="DejaVu Sans"/>
                <a:cs typeface="DejaVu Sans"/>
              </a:rPr>
              <a:t>איזו עמדה תרצו לפתח: בעד, נגד, או בעד בתנאים מסוימים?</a:t>
            </a:r>
          </a:p>
        </p:txBody>
      </p:sp>
      <p:sp>
        <p:nvSpPr>
          <p:cNvPr id="5" name="">
            <a:extLst xmlns:a="http://schemas.openxmlformats.org/drawingml/2006/main">
              <a:ext uri="{FF2B5EF4-FFF2-40B4-BE49-F238E27FC236}">
                <a16:creationId xmlns:a16="http://schemas.microsoft.com/office/drawing/2014/main" id="{D118B412-616D-4F43-B830-3C40B421A747}"/>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0">
                <a:solidFill>
                  <a:srgbClr val="172C42"/>
                </a:solidFill>
                <a:latin typeface="DejaVu Sans"/>
                <a:ea typeface="DejaVu Sans"/>
                <a:cs typeface="DejaVu Sans"/>
              </a:defRPr>
            </a:pPr>
            <a:r>
              <a:rPr sz="2175" b="0">
                <a:solidFill>
                  <a:srgbClr val="172C42"/>
                </a:solidFill>
                <a:latin typeface="DejaVu Sans"/>
                <a:ea typeface="DejaVu Sans"/>
                <a:cs typeface="DejaVu Sans"/>
              </a:rPr>
              <a:t>I claim that limited working hours can help students prepare for adult life.</a:t>
            </a:r>
          </a:p>
        </p:txBody>
      </p:sp>
      <p:sp>
        <p:nvSpPr>
          <p:cNvPr id="6" name="">
            <a:extLst xmlns:a="http://schemas.openxmlformats.org/drawingml/2006/main">
              <a:ext uri="{FF2B5EF4-FFF2-40B4-BE49-F238E27FC236}">
                <a16:creationId xmlns:a16="http://schemas.microsoft.com/office/drawing/2014/main" id="{A5D0D3C2-5641-474F-9184-D6186D20E8CA}"/>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a3c31b8be48b4a7a"/>
              </a:rPr>
              <a:t>פתיחת המאמן</a:t>
            </a:r>
          </a:p>
        </p:txBody>
      </p:sp>
      <p:sp>
        <p:nvSpPr>
          <p:cNvPr id="7" name="">
            <a:extLst xmlns:a="http://schemas.openxmlformats.org/drawingml/2006/main">
              <a:ext uri="{FF2B5EF4-FFF2-40B4-BE49-F238E27FC236}">
                <a16:creationId xmlns:a16="http://schemas.microsoft.com/office/drawing/2014/main" id="{056AC273-FD5B-49C3-B0C6-EDE68C029F43}"/>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10</a:t>
            </a:r>
          </a:p>
        </p:txBody>
      </p:sp>
    </p:spTree>
    <p:extLst>
      <p:ext uri="{BB962C8B-B14F-4D97-AF65-F5344CB8AC3E}">
        <p14:creationId xmlns:p14="http://schemas.microsoft.com/office/powerpoint/2010/main" val="1465948811"/>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91E5BC-BDFA-4DC7-A8AF-4F7B44316196}"/>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משוב שמאפשר לתקן</a:t>
            </a:r>
          </a:p>
        </p:txBody>
      </p:sp>
      <p:sp>
        <p:nvSpPr>
          <p:cNvPr id="2" name="">
            <a:extLst xmlns:a="http://schemas.openxmlformats.org/drawingml/2006/main">
              <a:ext uri="{FF2B5EF4-FFF2-40B4-BE49-F238E27FC236}">
                <a16:creationId xmlns:a16="http://schemas.microsoft.com/office/drawing/2014/main" id="{402C128D-CA90-4206-A425-46461F2E5A9E}"/>
              </a:ext>
            </a:extLst>
          </p:cNvPr>
          <p:cNvSpPr>
            <a:spLocks xmlns:a="http://schemas.openxmlformats.org/drawingml/2006/main" noGrp="1"/>
          </p:cNvSpPr>
          <p:nvPr/>
        </p:nvSpPr>
        <p:spPr>
          <a:xfrm xmlns:a="http://schemas.openxmlformats.org/drawingml/2006/main">
            <a:off x="666750" y="1809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0">
                <a:solidFill>
                  <a:srgbClr val="172C42"/>
                </a:solidFill>
                <a:latin typeface="DejaVu Sans"/>
                <a:ea typeface="DejaVu Sans"/>
                <a:cs typeface="DejaVu Sans"/>
              </a:defRPr>
            </a:pPr>
            <a:r>
              <a:rPr sz="2775" b="0">
                <a:solidFill>
                  <a:srgbClr val="172C42"/>
                </a:solidFill>
                <a:latin typeface="DejaVu Sans"/>
                <a:ea typeface="DejaVu Sans"/>
                <a:cs typeface="DejaVu Sans"/>
              </a:rPr>
              <a:t>I claim that teenagers needs time for homework.</a:t>
            </a:r>
          </a:p>
        </p:txBody>
      </p:sp>
      <p:sp>
        <p:nvSpPr>
          <p:cNvPr id="3" name="">
            <a:extLst xmlns:a="http://schemas.openxmlformats.org/drawingml/2006/main">
              <a:ext uri="{FF2B5EF4-FFF2-40B4-BE49-F238E27FC236}">
                <a16:creationId xmlns:a16="http://schemas.microsoft.com/office/drawing/2014/main" id="{6A7B2C19-9057-4FC7-9F23-A3101AAA6F4D}"/>
              </a:ext>
            </a:extLst>
          </p:cNvPr>
          <p:cNvSpPr>
            <a:spLocks xmlns:a="http://schemas.openxmlformats.org/drawingml/2006/main" noGrp="1"/>
          </p:cNvSpPr>
          <p:nvPr/>
        </p:nvSpPr>
        <p:spPr>
          <a:xfrm xmlns:a="http://schemas.openxmlformats.org/drawingml/2006/main">
            <a:off x="666750" y="3048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הרעיון ברור. בדקו את הפועל שאחרי הנושא ברבים.</a:t>
            </a:r>
          </a:p>
        </p:txBody>
      </p:sp>
      <p:sp>
        <p:nvSpPr>
          <p:cNvPr id="4" name="">
            <a:extLst xmlns:a="http://schemas.openxmlformats.org/drawingml/2006/main">
              <a:ext uri="{FF2B5EF4-FFF2-40B4-BE49-F238E27FC236}">
                <a16:creationId xmlns:a16="http://schemas.microsoft.com/office/drawing/2014/main" id="{0BCF0F64-9202-4750-AF84-60238604F595}"/>
              </a:ext>
            </a:extLst>
          </p:cNvPr>
          <p:cNvSpPr>
            <a:spLocks xmlns:a="http://schemas.openxmlformats.org/drawingml/2006/main" noGrp="1"/>
          </p:cNvSpPr>
          <p:nvPr/>
        </p:nvSpPr>
        <p:spPr>
          <a:xfrm xmlns:a="http://schemas.openxmlformats.org/drawingml/2006/main">
            <a:off x="666750" y="3905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700" b="0">
                <a:solidFill>
                  <a:srgbClr val="172C42"/>
                </a:solidFill>
                <a:latin typeface="DejaVu Sans"/>
                <a:ea typeface="DejaVu Sans"/>
                <a:cs typeface="DejaVu Sans"/>
              </a:defRPr>
            </a:pPr>
            <a:r>
              <a:rPr sz="2700" b="0" lang="he-IL">
                <a:solidFill>
                  <a:srgbClr val="172C42"/>
                </a:solidFill>
                <a:latin typeface="DejaVu Sans"/>
                <a:ea typeface="DejaVu Sans"/>
                <a:cs typeface="DejaVu Sans"/>
              </a:rPr>
              <a:t>מה מתאים?    need     /     needs</a:t>
            </a:r>
          </a:p>
        </p:txBody>
      </p:sp>
      <p:sp>
        <p:nvSpPr>
          <p:cNvPr id="5" name="">
            <a:extLst xmlns:a="http://schemas.openxmlformats.org/drawingml/2006/main">
              <a:ext uri="{FF2B5EF4-FFF2-40B4-BE49-F238E27FC236}">
                <a16:creationId xmlns:a16="http://schemas.microsoft.com/office/drawing/2014/main" id="{CB6B45BF-8411-4CCF-BDA3-658F6510D4E6}"/>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בחרו תשובה. התיקון יופיע בשקף הבא.</a:t>
            </a:r>
          </a:p>
        </p:txBody>
      </p:sp>
      <p:sp>
        <p:nvSpPr>
          <p:cNvPr id="6" name="">
            <a:extLst xmlns:a="http://schemas.openxmlformats.org/drawingml/2006/main">
              <a:ext uri="{FF2B5EF4-FFF2-40B4-BE49-F238E27FC236}">
                <a16:creationId xmlns:a16="http://schemas.microsoft.com/office/drawing/2014/main" id="{F4996790-68EE-40F6-A532-8EB470957F01}"/>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97a8ef9ca9994b7e"/>
              </a:rPr>
              <a:t>פתיחת המאמן</a:t>
            </a:r>
          </a:p>
        </p:txBody>
      </p:sp>
      <p:sp>
        <p:nvSpPr>
          <p:cNvPr id="7" name="">
            <a:extLst xmlns:a="http://schemas.openxmlformats.org/drawingml/2006/main">
              <a:ext uri="{FF2B5EF4-FFF2-40B4-BE49-F238E27FC236}">
                <a16:creationId xmlns:a16="http://schemas.microsoft.com/office/drawing/2014/main" id="{45C7542C-B2F5-45F9-8B9C-D2C4664ED96F}"/>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11</a:t>
            </a:r>
          </a:p>
        </p:txBody>
      </p:sp>
    </p:spTree>
    <p:extLst>
      <p:ext uri="{BB962C8B-B14F-4D97-AF65-F5344CB8AC3E}">
        <p14:creationId xmlns:p14="http://schemas.microsoft.com/office/powerpoint/2010/main" val="557638274"/>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E1FEB3-9F2E-40F1-914A-32B765026650}"/>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משוב שמאפשר לתקן</a:t>
            </a:r>
          </a:p>
        </p:txBody>
      </p:sp>
      <p:sp>
        <p:nvSpPr>
          <p:cNvPr id="2" name="">
            <a:extLst xmlns:a="http://schemas.openxmlformats.org/drawingml/2006/main">
              <a:ext uri="{FF2B5EF4-FFF2-40B4-BE49-F238E27FC236}">
                <a16:creationId xmlns:a16="http://schemas.microsoft.com/office/drawing/2014/main" id="{09339CED-9472-40C2-9D3B-CE95084EABB6}"/>
              </a:ext>
            </a:extLst>
          </p:cNvPr>
          <p:cNvSpPr>
            <a:spLocks xmlns:a="http://schemas.openxmlformats.org/drawingml/2006/main" noGrp="1"/>
          </p:cNvSpPr>
          <p:nvPr/>
        </p:nvSpPr>
        <p:spPr>
          <a:xfrm xmlns:a="http://schemas.openxmlformats.org/drawingml/2006/main">
            <a:off x="666750" y="1809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0">
                <a:solidFill>
                  <a:srgbClr val="172C42"/>
                </a:solidFill>
                <a:latin typeface="DejaVu Sans"/>
                <a:ea typeface="DejaVu Sans"/>
                <a:cs typeface="DejaVu Sans"/>
              </a:defRPr>
            </a:pPr>
            <a:r>
              <a:rPr sz="2775" b="0">
                <a:solidFill>
                  <a:srgbClr val="172C42"/>
                </a:solidFill>
                <a:latin typeface="DejaVu Sans"/>
                <a:ea typeface="DejaVu Sans"/>
                <a:cs typeface="DejaVu Sans"/>
              </a:rPr>
              <a:t>I claim that teenagers needs time for homework.</a:t>
            </a:r>
          </a:p>
        </p:txBody>
      </p:sp>
      <p:sp>
        <p:nvSpPr>
          <p:cNvPr id="3" name="">
            <a:extLst xmlns:a="http://schemas.openxmlformats.org/drawingml/2006/main">
              <a:ext uri="{FF2B5EF4-FFF2-40B4-BE49-F238E27FC236}">
                <a16:creationId xmlns:a16="http://schemas.microsoft.com/office/drawing/2014/main" id="{4F9A8165-B27B-4A0B-A38E-DA8C8F581EDD}"/>
              </a:ext>
            </a:extLst>
          </p:cNvPr>
          <p:cNvSpPr>
            <a:spLocks xmlns:a="http://schemas.openxmlformats.org/drawingml/2006/main" noGrp="1"/>
          </p:cNvSpPr>
          <p:nvPr/>
        </p:nvSpPr>
        <p:spPr>
          <a:xfrm xmlns:a="http://schemas.openxmlformats.org/drawingml/2006/main">
            <a:off x="666750" y="3048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הרעיון ברור. בדקו את הפועל שאחרי הנושא ברבים.</a:t>
            </a:r>
          </a:p>
        </p:txBody>
      </p:sp>
      <p:sp>
        <p:nvSpPr>
          <p:cNvPr id="4" name="">
            <a:extLst xmlns:a="http://schemas.openxmlformats.org/drawingml/2006/main">
              <a:ext uri="{FF2B5EF4-FFF2-40B4-BE49-F238E27FC236}">
                <a16:creationId xmlns:a16="http://schemas.microsoft.com/office/drawing/2014/main" id="{82A056AB-7B6D-4B66-8A73-D68EE68EEFDE}"/>
              </a:ext>
            </a:extLst>
          </p:cNvPr>
          <p:cNvSpPr>
            <a:spLocks xmlns:a="http://schemas.openxmlformats.org/drawingml/2006/main" noGrp="1"/>
          </p:cNvSpPr>
          <p:nvPr/>
        </p:nvSpPr>
        <p:spPr>
          <a:xfrm xmlns:a="http://schemas.openxmlformats.org/drawingml/2006/main">
            <a:off x="666750" y="3905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700" b="0">
                <a:solidFill>
                  <a:srgbClr val="172C42"/>
                </a:solidFill>
                <a:latin typeface="DejaVu Sans"/>
                <a:ea typeface="DejaVu Sans"/>
                <a:cs typeface="DejaVu Sans"/>
              </a:defRPr>
            </a:pPr>
            <a:r>
              <a:rPr sz="2700" b="0" lang="he-IL">
                <a:solidFill>
                  <a:srgbClr val="172C42"/>
                </a:solidFill>
                <a:latin typeface="DejaVu Sans"/>
                <a:ea typeface="DejaVu Sans"/>
                <a:cs typeface="DejaVu Sans"/>
              </a:rPr>
              <a:t>מה מתאים?    need     /     needs</a:t>
            </a:r>
          </a:p>
        </p:txBody>
      </p:sp>
      <p:sp>
        <p:nvSpPr>
          <p:cNvPr id="5" name="">
            <a:extLst xmlns:a="http://schemas.openxmlformats.org/drawingml/2006/main">
              <a:ext uri="{FF2B5EF4-FFF2-40B4-BE49-F238E27FC236}">
                <a16:creationId xmlns:a16="http://schemas.microsoft.com/office/drawing/2014/main" id="{78006868-9748-42DA-AA27-94398E6067D6}"/>
              </a:ext>
            </a:extLst>
          </p:cNvPr>
          <p:cNvSpPr>
            <a:spLocks xmlns:a="http://schemas.openxmlformats.org/drawingml/2006/main" noGrp="1"/>
          </p:cNvSpPr>
          <p:nvPr/>
        </p:nvSpPr>
        <p:spPr>
          <a:xfrm xmlns:a="http://schemas.openxmlformats.org/drawingml/2006/main">
            <a:off x="666750" y="4953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550" b="0">
                <a:solidFill>
                  <a:srgbClr val="172C42"/>
                </a:solidFill>
                <a:latin typeface="DejaVu Sans"/>
                <a:ea typeface="DejaVu Sans"/>
                <a:cs typeface="DejaVu Sans"/>
              </a:defRPr>
            </a:pPr>
            <a:r>
              <a:rPr sz="2550" b="0">
                <a:solidFill>
                  <a:srgbClr val="172C42"/>
                </a:solidFill>
                <a:latin typeface="DejaVu Sans"/>
                <a:ea typeface="DejaVu Sans"/>
                <a:cs typeface="DejaVu Sans"/>
              </a:rPr>
              <a:t>I claim that teenagers need time for homework.</a:t>
            </a:r>
          </a:p>
        </p:txBody>
      </p:sp>
      <p:sp>
        <p:nvSpPr>
          <p:cNvPr id="6" name="">
            <a:extLst xmlns:a="http://schemas.openxmlformats.org/drawingml/2006/main">
              <a:ext uri="{FF2B5EF4-FFF2-40B4-BE49-F238E27FC236}">
                <a16:creationId xmlns:a16="http://schemas.microsoft.com/office/drawing/2014/main" id="{76CB3498-82BA-4D89-8E94-78BCBEB537AD}"/>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e3e4841797ca4d9c"/>
              </a:rPr>
              <a:t>פתיחת המאמן</a:t>
            </a:r>
          </a:p>
        </p:txBody>
      </p:sp>
      <p:sp>
        <p:nvSpPr>
          <p:cNvPr id="7" name="">
            <a:extLst xmlns:a="http://schemas.openxmlformats.org/drawingml/2006/main">
              <a:ext uri="{FF2B5EF4-FFF2-40B4-BE49-F238E27FC236}">
                <a16:creationId xmlns:a16="http://schemas.microsoft.com/office/drawing/2014/main" id="{26F79F39-5AE0-4E5B-9B6C-381041FE1C60}"/>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12</a:t>
            </a:r>
          </a:p>
        </p:txBody>
      </p:sp>
    </p:spTree>
    <p:extLst>
      <p:ext uri="{BB962C8B-B14F-4D97-AF65-F5344CB8AC3E}">
        <p14:creationId xmlns:p14="http://schemas.microsoft.com/office/powerpoint/2010/main" val="86455526"/>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B956DE-3FC5-4DFE-8914-3245FD83E6B5}"/>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פסקה שנייה: הצד האחר</a:t>
            </a:r>
          </a:p>
        </p:txBody>
      </p:sp>
      <p:sp>
        <p:nvSpPr>
          <p:cNvPr id="2" name="">
            <a:extLst xmlns:a="http://schemas.openxmlformats.org/drawingml/2006/main">
              <a:ext uri="{FF2B5EF4-FFF2-40B4-BE49-F238E27FC236}">
                <a16:creationId xmlns:a16="http://schemas.microsoft.com/office/drawing/2014/main" id="{944FDAF1-9100-4724-A6D4-B7D0DACD6FE0}"/>
              </a:ext>
            </a:extLst>
          </p:cNvPr>
          <p:cNvSpPr>
            <a:spLocks xmlns:a="http://schemas.openxmlformats.org/drawingml/2006/main" noGrp="1"/>
          </p:cNvSpPr>
          <p:nvPr/>
        </p:nvSpPr>
        <p:spPr>
          <a:xfrm xmlns:a="http://schemas.openxmlformats.org/drawingml/2006/main">
            <a:off x="66675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750" b="0">
                <a:solidFill>
                  <a:srgbClr val="172C42"/>
                </a:solidFill>
                <a:latin typeface="DejaVu Sans"/>
                <a:ea typeface="DejaVu Sans"/>
                <a:cs typeface="DejaVu Sans"/>
              </a:defRPr>
            </a:pPr>
            <a:r>
              <a:rPr sz="3750" b="0">
                <a:solidFill>
                  <a:srgbClr val="172C42"/>
                </a:solidFill>
                <a:latin typeface="DejaVu Sans"/>
                <a:ea typeface="DejaVu Sans"/>
                <a:cs typeface="DejaVu Sans"/>
              </a:rPr>
              <a:t>On the one hand,</a:t>
            </a:r>
          </a:p>
        </p:txBody>
      </p:sp>
      <p:sp>
        <p:nvSpPr>
          <p:cNvPr id="3" name="">
            <a:extLst xmlns:a="http://schemas.openxmlformats.org/drawingml/2006/main">
              <a:ext uri="{FF2B5EF4-FFF2-40B4-BE49-F238E27FC236}">
                <a16:creationId xmlns:a16="http://schemas.microsoft.com/office/drawing/2014/main" id="{9AA419D3-30F9-4B73-8046-6563A883FACA}"/>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אם עמדתכם בעד עבודה מוגבלת, איזה קושי כדאי להכיר?</a:t>
            </a:r>
          </a:p>
        </p:txBody>
      </p:sp>
      <p:sp>
        <p:nvSpPr>
          <p:cNvPr id="4" name="">
            <a:extLst xmlns:a="http://schemas.openxmlformats.org/drawingml/2006/main">
              <a:ext uri="{FF2B5EF4-FFF2-40B4-BE49-F238E27FC236}">
                <a16:creationId xmlns:a16="http://schemas.microsoft.com/office/drawing/2014/main" id="{AC2BFF46-BFA8-4027-9D53-0B6CE3BD5D4B}"/>
              </a:ext>
            </a:extLst>
          </p:cNvPr>
          <p:cNvSpPr>
            <a:spLocks xmlns:a="http://schemas.openxmlformats.org/drawingml/2006/main" noGrp="1"/>
          </p:cNvSpPr>
          <p:nvPr/>
        </p:nvSpPr>
        <p:spPr>
          <a:xfrm xmlns:a="http://schemas.openxmlformats.org/drawingml/2006/main">
            <a:off x="666750" y="4048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550" b="0">
                <a:solidFill>
                  <a:srgbClr val="172C42"/>
                </a:solidFill>
                <a:latin typeface="DejaVu Sans"/>
                <a:ea typeface="DejaVu Sans"/>
                <a:cs typeface="DejaVu Sans"/>
              </a:defRPr>
            </a:pPr>
            <a:r>
              <a:rPr sz="2550" b="0">
                <a:solidFill>
                  <a:srgbClr val="172C42"/>
                </a:solidFill>
                <a:latin typeface="DejaVu Sans"/>
                <a:ea typeface="DejaVu Sans"/>
                <a:cs typeface="DejaVu Sans"/>
              </a:rPr>
              <a:t>On the one hand, working after school can leave teenagers tired.</a:t>
            </a:r>
          </a:p>
        </p:txBody>
      </p:sp>
      <p:sp>
        <p:nvSpPr>
          <p:cNvPr id="5" name="">
            <a:extLst xmlns:a="http://schemas.openxmlformats.org/drawingml/2006/main">
              <a:ext uri="{FF2B5EF4-FFF2-40B4-BE49-F238E27FC236}">
                <a16:creationId xmlns:a16="http://schemas.microsoft.com/office/drawing/2014/main" id="{6C705C4B-1B06-4F0D-9357-B3120DDAFD61}"/>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כעת מסבירים כיצד הקושי משפיע על התלמיד.</a:t>
            </a:r>
          </a:p>
        </p:txBody>
      </p:sp>
      <p:sp>
        <p:nvSpPr>
          <p:cNvPr id="6" name="">
            <a:extLst xmlns:a="http://schemas.openxmlformats.org/drawingml/2006/main">
              <a:ext uri="{FF2B5EF4-FFF2-40B4-BE49-F238E27FC236}">
                <a16:creationId xmlns:a16="http://schemas.microsoft.com/office/drawing/2014/main" id="{F657F07F-5E7E-459A-9842-09B6BAC708AB}"/>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ae4394d391f7456d"/>
              </a:rPr>
              <a:t>פתיחת המאמן</a:t>
            </a:r>
          </a:p>
        </p:txBody>
      </p:sp>
      <p:sp>
        <p:nvSpPr>
          <p:cNvPr id="7" name="">
            <a:extLst xmlns:a="http://schemas.openxmlformats.org/drawingml/2006/main">
              <a:ext uri="{FF2B5EF4-FFF2-40B4-BE49-F238E27FC236}">
                <a16:creationId xmlns:a16="http://schemas.microsoft.com/office/drawing/2014/main" id="{CBF77132-4414-48D3-A4AD-8488A2BCDC30}"/>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13</a:t>
            </a:r>
          </a:p>
        </p:txBody>
      </p:sp>
    </p:spTree>
    <p:extLst>
      <p:ext uri="{BB962C8B-B14F-4D97-AF65-F5344CB8AC3E}">
        <p14:creationId xmlns:p14="http://schemas.microsoft.com/office/powerpoint/2010/main" val="391358822"/>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DE35FD-E936-4753-93D5-54D08B31E179}"/>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תנאי ראשון</a:t>
            </a:r>
          </a:p>
        </p:txBody>
      </p:sp>
      <p:sp>
        <p:nvSpPr>
          <p:cNvPr id="2" name="">
            <a:extLst xmlns:a="http://schemas.openxmlformats.org/drawingml/2006/main">
              <a:ext uri="{FF2B5EF4-FFF2-40B4-BE49-F238E27FC236}">
                <a16:creationId xmlns:a16="http://schemas.microsoft.com/office/drawing/2014/main" id="{0B7293D2-FF4F-4DD2-9058-6FCFBAF7ED75}"/>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0">
                <a:solidFill>
                  <a:srgbClr val="172C42"/>
                </a:solidFill>
                <a:latin typeface="DejaVu Sans"/>
                <a:ea typeface="DejaVu Sans"/>
                <a:cs typeface="DejaVu Sans"/>
              </a:defRPr>
            </a:pPr>
            <a:r>
              <a:rPr sz="2775" b="0">
                <a:solidFill>
                  <a:srgbClr val="172C42"/>
                </a:solidFill>
                <a:latin typeface="DejaVu Sans"/>
                <a:ea typeface="DejaVu Sans"/>
                <a:cs typeface="DejaVu Sans"/>
              </a:rPr>
              <a:t>If they ____ every evening, they will have less time for homework.</a:t>
            </a:r>
          </a:p>
        </p:txBody>
      </p:sp>
      <p:sp>
        <p:nvSpPr>
          <p:cNvPr id="3" name="">
            <a:extLst xmlns:a="http://schemas.openxmlformats.org/drawingml/2006/main">
              <a:ext uri="{FF2B5EF4-FFF2-40B4-BE49-F238E27FC236}">
                <a16:creationId xmlns:a16="http://schemas.microsoft.com/office/drawing/2014/main" id="{0ABE5615-13A4-4EB9-9069-C5E10666033F}"/>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000" b="0">
                <a:solidFill>
                  <a:srgbClr val="172C42"/>
                </a:solidFill>
                <a:latin typeface="DejaVu Sans"/>
                <a:ea typeface="DejaVu Sans"/>
                <a:cs typeface="DejaVu Sans"/>
              </a:defRPr>
            </a:pPr>
            <a:r>
              <a:rPr sz="3000" b="0">
                <a:solidFill>
                  <a:srgbClr val="172C42"/>
                </a:solidFill>
                <a:latin typeface="DejaVu Sans"/>
                <a:ea typeface="DejaVu Sans"/>
                <a:cs typeface="DejaVu Sans"/>
              </a:rPr>
              <a:t>work     /     will work</a:t>
            </a:r>
          </a:p>
        </p:txBody>
      </p:sp>
      <p:sp>
        <p:nvSpPr>
          <p:cNvPr id="4" name="">
            <a:extLst xmlns:a="http://schemas.openxmlformats.org/drawingml/2006/main">
              <a:ext uri="{FF2B5EF4-FFF2-40B4-BE49-F238E27FC236}">
                <a16:creationId xmlns:a16="http://schemas.microsoft.com/office/drawing/2014/main" id="{5C54504A-0F26-4FD8-B8F1-306D65F1FF56}"/>
              </a:ext>
            </a:extLst>
          </p:cNvPr>
          <p:cNvSpPr>
            <a:spLocks xmlns:a="http://schemas.openxmlformats.org/drawingml/2006/main" noGrp="1"/>
          </p:cNvSpPr>
          <p:nvPr/>
        </p:nvSpPr>
        <p:spPr>
          <a:xfrm xmlns:a="http://schemas.openxmlformats.org/drawingml/2006/main">
            <a:off x="666750" y="4000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625" b="0">
                <a:solidFill>
                  <a:srgbClr val="172C42"/>
                </a:solidFill>
                <a:latin typeface="DejaVu Sans"/>
                <a:ea typeface="DejaVu Sans"/>
                <a:cs typeface="DejaVu Sans"/>
              </a:defRPr>
            </a:pPr>
            <a:r>
              <a:rPr sz="2625" b="0" lang="he-IL">
                <a:solidFill>
                  <a:srgbClr val="172C42"/>
                </a:solidFill>
                <a:latin typeface="DejaVu Sans"/>
                <a:ea typeface="DejaVu Sans"/>
                <a:cs typeface="DejaVu Sans"/>
              </a:rPr>
              <a:t>מה מתאים אחרי If? בחרו לפני החשיפה.</a:t>
            </a:r>
          </a:p>
        </p:txBody>
      </p:sp>
      <p:sp>
        <p:nvSpPr>
          <p:cNvPr id="5" name="">
            <a:extLst xmlns:a="http://schemas.openxmlformats.org/drawingml/2006/main">
              <a:ext uri="{FF2B5EF4-FFF2-40B4-BE49-F238E27FC236}">
                <a16:creationId xmlns:a16="http://schemas.microsoft.com/office/drawing/2014/main" id="{EAD52225-8351-4F90-9115-1FDF63BFD797}"/>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אפשר לכתוב במאמן: רמז</a:t>
            </a:r>
          </a:p>
        </p:txBody>
      </p:sp>
      <p:sp>
        <p:nvSpPr>
          <p:cNvPr id="6" name="">
            <a:extLst xmlns:a="http://schemas.openxmlformats.org/drawingml/2006/main">
              <a:ext uri="{FF2B5EF4-FFF2-40B4-BE49-F238E27FC236}">
                <a16:creationId xmlns:a16="http://schemas.microsoft.com/office/drawing/2014/main" id="{31F71D1F-34C0-49BB-82EA-CBE820D31832}"/>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6ad5f9d956e84fee"/>
              </a:rPr>
              <a:t>פתיחת המאמן</a:t>
            </a:r>
          </a:p>
        </p:txBody>
      </p:sp>
      <p:sp>
        <p:nvSpPr>
          <p:cNvPr id="7" name="">
            <a:extLst xmlns:a="http://schemas.openxmlformats.org/drawingml/2006/main">
              <a:ext uri="{FF2B5EF4-FFF2-40B4-BE49-F238E27FC236}">
                <a16:creationId xmlns:a16="http://schemas.microsoft.com/office/drawing/2014/main" id="{468ECAD4-BDD7-4B1C-82B5-400776D94023}"/>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14</a:t>
            </a:r>
          </a:p>
        </p:txBody>
      </p:sp>
    </p:spTree>
    <p:extLst>
      <p:ext uri="{BB962C8B-B14F-4D97-AF65-F5344CB8AC3E}">
        <p14:creationId xmlns:p14="http://schemas.microsoft.com/office/powerpoint/2010/main" val="1153676460"/>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56DA2E-04C2-49C8-86D9-7E4D814B6746}"/>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תנאי ראשון</a:t>
            </a:r>
          </a:p>
        </p:txBody>
      </p:sp>
      <p:sp>
        <p:nvSpPr>
          <p:cNvPr id="2" name="">
            <a:extLst xmlns:a="http://schemas.openxmlformats.org/drawingml/2006/main">
              <a:ext uri="{FF2B5EF4-FFF2-40B4-BE49-F238E27FC236}">
                <a16:creationId xmlns:a16="http://schemas.microsoft.com/office/drawing/2014/main" id="{FB1BEF27-9B6B-4A93-ACCD-EF6FAF31CFF3}"/>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0">
                <a:solidFill>
                  <a:srgbClr val="172C42"/>
                </a:solidFill>
                <a:latin typeface="DejaVu Sans"/>
                <a:ea typeface="DejaVu Sans"/>
                <a:cs typeface="DejaVu Sans"/>
              </a:defRPr>
            </a:pPr>
            <a:r>
              <a:rPr sz="2775" b="0">
                <a:solidFill>
                  <a:srgbClr val="172C42"/>
                </a:solidFill>
                <a:latin typeface="DejaVu Sans"/>
                <a:ea typeface="DejaVu Sans"/>
                <a:cs typeface="DejaVu Sans"/>
              </a:rPr>
              <a:t>If they ____ every evening, they will have less time for homework.</a:t>
            </a:r>
          </a:p>
        </p:txBody>
      </p:sp>
      <p:sp>
        <p:nvSpPr>
          <p:cNvPr id="3" name="">
            <a:extLst xmlns:a="http://schemas.openxmlformats.org/drawingml/2006/main">
              <a:ext uri="{FF2B5EF4-FFF2-40B4-BE49-F238E27FC236}">
                <a16:creationId xmlns:a16="http://schemas.microsoft.com/office/drawing/2014/main" id="{2F56E4D4-CB77-4F4F-9D99-79E134654BF7}"/>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000" b="0">
                <a:solidFill>
                  <a:srgbClr val="172C42"/>
                </a:solidFill>
                <a:latin typeface="DejaVu Sans"/>
                <a:ea typeface="DejaVu Sans"/>
                <a:cs typeface="DejaVu Sans"/>
              </a:defRPr>
            </a:pPr>
            <a:r>
              <a:rPr sz="3000" b="0">
                <a:solidFill>
                  <a:srgbClr val="172C42"/>
                </a:solidFill>
                <a:latin typeface="DejaVu Sans"/>
                <a:ea typeface="DejaVu Sans"/>
                <a:cs typeface="DejaVu Sans"/>
              </a:rPr>
              <a:t>work     /     will work</a:t>
            </a:r>
          </a:p>
        </p:txBody>
      </p:sp>
      <p:sp>
        <p:nvSpPr>
          <p:cNvPr id="4" name="">
            <a:extLst xmlns:a="http://schemas.openxmlformats.org/drawingml/2006/main">
              <a:ext uri="{FF2B5EF4-FFF2-40B4-BE49-F238E27FC236}">
                <a16:creationId xmlns:a16="http://schemas.microsoft.com/office/drawing/2014/main" id="{55BCA7DA-4B73-48AF-89CD-BFA528D0E62A}"/>
              </a:ext>
            </a:extLst>
          </p:cNvPr>
          <p:cNvSpPr>
            <a:spLocks xmlns:a="http://schemas.openxmlformats.org/drawingml/2006/main" noGrp="1"/>
          </p:cNvSpPr>
          <p:nvPr/>
        </p:nvSpPr>
        <p:spPr>
          <a:xfrm xmlns:a="http://schemas.openxmlformats.org/drawingml/2006/main">
            <a:off x="666750" y="4000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625" b="0">
                <a:solidFill>
                  <a:srgbClr val="172C42"/>
                </a:solidFill>
                <a:latin typeface="DejaVu Sans"/>
                <a:ea typeface="DejaVu Sans"/>
                <a:cs typeface="DejaVu Sans"/>
              </a:defRPr>
            </a:pPr>
            <a:r>
              <a:rPr sz="2625" b="0" lang="he-IL">
                <a:solidFill>
                  <a:srgbClr val="172C42"/>
                </a:solidFill>
                <a:latin typeface="DejaVu Sans"/>
                <a:ea typeface="DejaVu Sans"/>
                <a:cs typeface="DejaVu Sans"/>
              </a:rPr>
              <a:t>מה מתאים אחרי If? בחרו לפני החשיפה.</a:t>
            </a:r>
          </a:p>
        </p:txBody>
      </p:sp>
      <p:sp>
        <p:nvSpPr>
          <p:cNvPr id="5" name="">
            <a:extLst xmlns:a="http://schemas.openxmlformats.org/drawingml/2006/main">
              <a:ext uri="{FF2B5EF4-FFF2-40B4-BE49-F238E27FC236}">
                <a16:creationId xmlns:a16="http://schemas.microsoft.com/office/drawing/2014/main" id="{113A97BD-5DEF-46B7-84AF-D6CA9F0F738D}"/>
              </a:ext>
            </a:extLst>
          </p:cNvPr>
          <p:cNvSpPr>
            <a:spLocks xmlns:a="http://schemas.openxmlformats.org/drawingml/2006/main" noGrp="1"/>
          </p:cNvSpPr>
          <p:nvPr/>
        </p:nvSpPr>
        <p:spPr>
          <a:xfrm xmlns:a="http://schemas.openxmlformats.org/drawingml/2006/main">
            <a:off x="66675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0">
                <a:solidFill>
                  <a:srgbClr val="172C42"/>
                </a:solidFill>
                <a:latin typeface="DejaVu Sans"/>
                <a:ea typeface="DejaVu Sans"/>
                <a:cs typeface="DejaVu Sans"/>
              </a:defRPr>
            </a:pPr>
            <a:r>
              <a:rPr sz="2175" b="0">
                <a:solidFill>
                  <a:srgbClr val="172C42"/>
                </a:solidFill>
                <a:latin typeface="DejaVu Sans"/>
                <a:ea typeface="DejaVu Sans"/>
                <a:cs typeface="DejaVu Sans"/>
              </a:rPr>
              <a:t>If they work every evening, they will have less time for homework.</a:t>
            </a:r>
          </a:p>
        </p:txBody>
      </p:sp>
      <p:sp>
        <p:nvSpPr>
          <p:cNvPr id="6" name="">
            <a:extLst xmlns:a="http://schemas.openxmlformats.org/drawingml/2006/main">
              <a:ext uri="{FF2B5EF4-FFF2-40B4-BE49-F238E27FC236}">
                <a16:creationId xmlns:a16="http://schemas.microsoft.com/office/drawing/2014/main" id="{44B1FDFC-1158-414A-9564-40BC640ED76F}"/>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3b5b7469508045db"/>
              </a:rPr>
              <a:t>פתיחת המאמן</a:t>
            </a:r>
          </a:p>
        </p:txBody>
      </p:sp>
      <p:sp>
        <p:nvSpPr>
          <p:cNvPr id="7" name="">
            <a:extLst xmlns:a="http://schemas.openxmlformats.org/drawingml/2006/main">
              <a:ext uri="{FF2B5EF4-FFF2-40B4-BE49-F238E27FC236}">
                <a16:creationId xmlns:a16="http://schemas.microsoft.com/office/drawing/2014/main" id="{B350505D-6ED9-4DCB-8CDB-1061C1B43832}"/>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15</a:t>
            </a:r>
          </a:p>
        </p:txBody>
      </p:sp>
    </p:spTree>
    <p:extLst>
      <p:ext uri="{BB962C8B-B14F-4D97-AF65-F5344CB8AC3E}">
        <p14:creationId xmlns:p14="http://schemas.microsoft.com/office/powerpoint/2010/main" val="1156123438"/>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28C458-84CC-4348-8964-256FD5C4ADFA}"/>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פסקה שלישית: העמדה שלי</a:t>
            </a:r>
          </a:p>
        </p:txBody>
      </p:sp>
      <p:sp>
        <p:nvSpPr>
          <p:cNvPr id="2" name="">
            <a:extLst xmlns:a="http://schemas.openxmlformats.org/drawingml/2006/main">
              <a:ext uri="{FF2B5EF4-FFF2-40B4-BE49-F238E27FC236}">
                <a16:creationId xmlns:a16="http://schemas.microsoft.com/office/drawing/2014/main" id="{90C8798F-5B32-46CD-AEA5-7837FA758E8F}"/>
              </a:ext>
            </a:extLst>
          </p:cNvPr>
          <p:cNvSpPr>
            <a:spLocks xmlns:a="http://schemas.openxmlformats.org/drawingml/2006/main" noGrp="1"/>
          </p:cNvSpPr>
          <p:nvPr/>
        </p:nvSpPr>
        <p:spPr>
          <a:xfrm xmlns:a="http://schemas.openxmlformats.org/drawingml/2006/main">
            <a:off x="666750" y="16668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3750" b="0">
                <a:solidFill>
                  <a:srgbClr val="172C42"/>
                </a:solidFill>
                <a:latin typeface="DejaVu Sans"/>
                <a:ea typeface="DejaVu Sans"/>
                <a:cs typeface="DejaVu Sans"/>
              </a:defRPr>
            </a:pPr>
            <a:r>
              <a:rPr sz="3750" b="0">
                <a:solidFill>
                  <a:srgbClr val="172C42"/>
                </a:solidFill>
                <a:latin typeface="DejaVu Sans"/>
                <a:ea typeface="DejaVu Sans"/>
                <a:cs typeface="DejaVu Sans"/>
              </a:rPr>
              <a:t>On the other hand,</a:t>
            </a:r>
          </a:p>
        </p:txBody>
      </p:sp>
      <p:sp>
        <p:nvSpPr>
          <p:cNvPr id="3" name="">
            <a:extLst xmlns:a="http://schemas.openxmlformats.org/drawingml/2006/main">
              <a:ext uri="{FF2B5EF4-FFF2-40B4-BE49-F238E27FC236}">
                <a16:creationId xmlns:a16="http://schemas.microsoft.com/office/drawing/2014/main" id="{5F8AB049-8F21-4057-86E3-052FF0F8ED92}"/>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חוזרים לעמדה שלכם ומסבירים יתרון שתומך בה.</a:t>
            </a:r>
          </a:p>
        </p:txBody>
      </p:sp>
      <p:sp>
        <p:nvSpPr>
          <p:cNvPr id="4" name="">
            <a:extLst xmlns:a="http://schemas.openxmlformats.org/drawingml/2006/main">
              <a:ext uri="{FF2B5EF4-FFF2-40B4-BE49-F238E27FC236}">
                <a16:creationId xmlns:a16="http://schemas.microsoft.com/office/drawing/2014/main" id="{6CC5AF2B-1AEA-49B7-A445-F559DC1FA9B5}"/>
              </a:ext>
            </a:extLst>
          </p:cNvPr>
          <p:cNvSpPr>
            <a:spLocks xmlns:a="http://schemas.openxmlformats.org/drawingml/2006/main" noGrp="1"/>
          </p:cNvSpPr>
          <p:nvPr/>
        </p:nvSpPr>
        <p:spPr>
          <a:xfrm xmlns:a="http://schemas.openxmlformats.org/drawingml/2006/main">
            <a:off x="666750" y="4095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00" b="0">
                <a:solidFill>
                  <a:srgbClr val="172C42"/>
                </a:solidFill>
                <a:latin typeface="DejaVu Sans"/>
                <a:ea typeface="DejaVu Sans"/>
                <a:cs typeface="DejaVu Sans"/>
              </a:defRPr>
            </a:pPr>
            <a:r>
              <a:rPr sz="2700" b="0">
                <a:solidFill>
                  <a:srgbClr val="172C42"/>
                </a:solidFill>
                <a:latin typeface="DejaVu Sans"/>
                <a:ea typeface="DejaVu Sans"/>
                <a:cs typeface="DejaVu Sans"/>
              </a:rPr>
              <a:t>On the other hand, a small job can teach practical skills.</a:t>
            </a:r>
          </a:p>
        </p:txBody>
      </p:sp>
      <p:sp>
        <p:nvSpPr>
          <p:cNvPr id="5" name="">
            <a:extLst xmlns:a="http://schemas.openxmlformats.org/drawingml/2006/main">
              <a:ext uri="{FF2B5EF4-FFF2-40B4-BE49-F238E27FC236}">
                <a16:creationId xmlns:a16="http://schemas.microsoft.com/office/drawing/2014/main" id="{BE707C8E-5B5F-4155-B9C7-161B9D585C45}"/>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3a250bae652e49f9"/>
              </a:rPr>
              <a:t>פתיחת המאמן</a:t>
            </a:r>
          </a:p>
        </p:txBody>
      </p:sp>
      <p:sp>
        <p:nvSpPr>
          <p:cNvPr id="6" name="">
            <a:extLst xmlns:a="http://schemas.openxmlformats.org/drawingml/2006/main">
              <a:ext uri="{FF2B5EF4-FFF2-40B4-BE49-F238E27FC236}">
                <a16:creationId xmlns:a16="http://schemas.microsoft.com/office/drawing/2014/main" id="{073C647A-5F0D-484B-B694-D51A80CEA0DF}"/>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16</a:t>
            </a:r>
          </a:p>
        </p:txBody>
      </p:sp>
    </p:spTree>
    <p:extLst>
      <p:ext uri="{BB962C8B-B14F-4D97-AF65-F5344CB8AC3E}">
        <p14:creationId xmlns:p14="http://schemas.microsoft.com/office/powerpoint/2010/main" val="902575056"/>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0FBE7A-6363-4108-8AF2-FA13A80E1A46}"/>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ניסיון שמשפיע על ההווה</a:t>
            </a:r>
          </a:p>
        </p:txBody>
      </p:sp>
      <p:sp>
        <p:nvSpPr>
          <p:cNvPr id="2" name="">
            <a:extLst xmlns:a="http://schemas.openxmlformats.org/drawingml/2006/main">
              <a:ext uri="{FF2B5EF4-FFF2-40B4-BE49-F238E27FC236}">
                <a16:creationId xmlns:a16="http://schemas.microsoft.com/office/drawing/2014/main" id="{51E637BD-C26A-4C52-9DDA-D8F4FD580759}"/>
              </a:ext>
            </a:extLst>
          </p:cNvPr>
          <p:cNvSpPr>
            <a:spLocks xmlns:a="http://schemas.openxmlformats.org/drawingml/2006/main" noGrp="1"/>
          </p:cNvSpPr>
          <p:nvPr/>
        </p:nvSpPr>
        <p:spPr>
          <a:xfrm xmlns:a="http://schemas.openxmlformats.org/drawingml/2006/main">
            <a:off x="66675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850" b="0">
                <a:solidFill>
                  <a:srgbClr val="172C42"/>
                </a:solidFill>
                <a:latin typeface="DejaVu Sans"/>
                <a:ea typeface="DejaVu Sans"/>
                <a:cs typeface="DejaVu Sans"/>
              </a:defRPr>
            </a:pPr>
            <a:r>
              <a:rPr sz="2850" b="0">
                <a:solidFill>
                  <a:srgbClr val="172C42"/>
                </a:solidFill>
                <a:latin typeface="DejaVu Sans"/>
                <a:ea typeface="DejaVu Sans"/>
                <a:cs typeface="DejaVu Sans"/>
              </a:rPr>
              <a:t>Many students have ____ to manage money through work.</a:t>
            </a:r>
          </a:p>
        </p:txBody>
      </p:sp>
      <p:sp>
        <p:nvSpPr>
          <p:cNvPr id="3" name="">
            <a:extLst xmlns:a="http://schemas.openxmlformats.org/drawingml/2006/main">
              <a:ext uri="{FF2B5EF4-FFF2-40B4-BE49-F238E27FC236}">
                <a16:creationId xmlns:a16="http://schemas.microsoft.com/office/drawing/2014/main" id="{10CDBE8E-0C9B-4874-A132-20D15B604FD8}"/>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550" b="0">
                <a:solidFill>
                  <a:srgbClr val="172C42"/>
                </a:solidFill>
                <a:latin typeface="DejaVu Sans"/>
                <a:ea typeface="DejaVu Sans"/>
                <a:cs typeface="DejaVu Sans"/>
              </a:defRPr>
            </a:pPr>
            <a:r>
              <a:rPr sz="2550" b="0">
                <a:solidFill>
                  <a:srgbClr val="172C42"/>
                </a:solidFill>
                <a:latin typeface="DejaVu Sans"/>
                <a:ea typeface="DejaVu Sans"/>
                <a:cs typeface="DejaVu Sans"/>
              </a:rPr>
              <a:t>learn     /     learned     /     learning</a:t>
            </a:r>
          </a:p>
        </p:txBody>
      </p:sp>
      <p:sp>
        <p:nvSpPr>
          <p:cNvPr id="4" name="">
            <a:extLst xmlns:a="http://schemas.openxmlformats.org/drawingml/2006/main">
              <a:ext uri="{FF2B5EF4-FFF2-40B4-BE49-F238E27FC236}">
                <a16:creationId xmlns:a16="http://schemas.microsoft.com/office/drawing/2014/main" id="{0C86A118-AB5F-4423-9976-AB175C67912D}"/>
              </a:ext>
            </a:extLst>
          </p:cNvPr>
          <p:cNvSpPr>
            <a:spLocks xmlns:a="http://schemas.openxmlformats.org/drawingml/2006/main" noGrp="1"/>
          </p:cNvSpPr>
          <p:nvPr/>
        </p:nvSpPr>
        <p:spPr>
          <a:xfrm xmlns:a="http://schemas.openxmlformats.org/drawingml/2006/main">
            <a:off x="666750" y="3905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אחרי have או has נשתמש בצורת V3.</a:t>
            </a:r>
          </a:p>
        </p:txBody>
      </p:sp>
      <p:sp>
        <p:nvSpPr>
          <p:cNvPr id="5" name="">
            <a:extLst xmlns:a="http://schemas.openxmlformats.org/drawingml/2006/main">
              <a:ext uri="{FF2B5EF4-FFF2-40B4-BE49-F238E27FC236}">
                <a16:creationId xmlns:a16="http://schemas.microsoft.com/office/drawing/2014/main" id="{3707BB97-7BD9-43D1-A070-797223D265FC}"/>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מהי הצורה הנכונה? התשובה בשקף הבא.</a:t>
            </a:r>
          </a:p>
        </p:txBody>
      </p:sp>
      <p:sp>
        <p:nvSpPr>
          <p:cNvPr id="6" name="">
            <a:extLst xmlns:a="http://schemas.openxmlformats.org/drawingml/2006/main">
              <a:ext uri="{FF2B5EF4-FFF2-40B4-BE49-F238E27FC236}">
                <a16:creationId xmlns:a16="http://schemas.microsoft.com/office/drawing/2014/main" id="{A4F4E535-FC6D-4118-851F-97243987DDAD}"/>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617f1efb8f144c7e"/>
              </a:rPr>
              <a:t>פתיחת המאמן</a:t>
            </a:r>
          </a:p>
        </p:txBody>
      </p:sp>
      <p:sp>
        <p:nvSpPr>
          <p:cNvPr id="7" name="">
            <a:extLst xmlns:a="http://schemas.openxmlformats.org/drawingml/2006/main">
              <a:ext uri="{FF2B5EF4-FFF2-40B4-BE49-F238E27FC236}">
                <a16:creationId xmlns:a16="http://schemas.microsoft.com/office/drawing/2014/main" id="{DF6567CD-70CD-4783-B242-38F8110BF1B7}"/>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17</a:t>
            </a:r>
          </a:p>
        </p:txBody>
      </p:sp>
    </p:spTree>
    <p:extLst>
      <p:ext uri="{BB962C8B-B14F-4D97-AF65-F5344CB8AC3E}">
        <p14:creationId xmlns:p14="http://schemas.microsoft.com/office/powerpoint/2010/main" val="1919668525"/>
      </p:ext>
    </p:extLst>
  </p:cSld>
</p:sld>
</file>

<file path=ppt/slides/slide1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440E19-735A-46E4-A4B7-F25112757444}"/>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ניסיון שמשפיע על ההווה</a:t>
            </a:r>
          </a:p>
        </p:txBody>
      </p:sp>
      <p:sp>
        <p:nvSpPr>
          <p:cNvPr id="2" name="">
            <a:extLst xmlns:a="http://schemas.openxmlformats.org/drawingml/2006/main">
              <a:ext uri="{FF2B5EF4-FFF2-40B4-BE49-F238E27FC236}">
                <a16:creationId xmlns:a16="http://schemas.microsoft.com/office/drawing/2014/main" id="{79B9637D-4E30-489F-A4E4-626028059A28}"/>
              </a:ext>
            </a:extLst>
          </p:cNvPr>
          <p:cNvSpPr>
            <a:spLocks xmlns:a="http://schemas.openxmlformats.org/drawingml/2006/main" noGrp="1"/>
          </p:cNvSpPr>
          <p:nvPr/>
        </p:nvSpPr>
        <p:spPr>
          <a:xfrm xmlns:a="http://schemas.openxmlformats.org/drawingml/2006/main">
            <a:off x="66675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850" b="0">
                <a:solidFill>
                  <a:srgbClr val="172C42"/>
                </a:solidFill>
                <a:latin typeface="DejaVu Sans"/>
                <a:ea typeface="DejaVu Sans"/>
                <a:cs typeface="DejaVu Sans"/>
              </a:defRPr>
            </a:pPr>
            <a:r>
              <a:rPr sz="2850" b="0">
                <a:solidFill>
                  <a:srgbClr val="172C42"/>
                </a:solidFill>
                <a:latin typeface="DejaVu Sans"/>
                <a:ea typeface="DejaVu Sans"/>
                <a:cs typeface="DejaVu Sans"/>
              </a:rPr>
              <a:t>Many students have ____ to manage money through work.</a:t>
            </a:r>
          </a:p>
        </p:txBody>
      </p:sp>
      <p:sp>
        <p:nvSpPr>
          <p:cNvPr id="3" name="">
            <a:extLst xmlns:a="http://schemas.openxmlformats.org/drawingml/2006/main">
              <a:ext uri="{FF2B5EF4-FFF2-40B4-BE49-F238E27FC236}">
                <a16:creationId xmlns:a16="http://schemas.microsoft.com/office/drawing/2014/main" id="{74EA690A-1795-451A-A847-BE2D6AEC2560}"/>
              </a:ext>
            </a:extLst>
          </p:cNvPr>
          <p:cNvSpPr>
            <a:spLocks xmlns:a="http://schemas.openxmlformats.org/drawingml/2006/main" noGrp="1"/>
          </p:cNvSpPr>
          <p:nvPr/>
        </p:nvSpPr>
        <p:spPr>
          <a:xfrm xmlns:a="http://schemas.openxmlformats.org/drawingml/2006/main">
            <a:off x="666750" y="2857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550" b="0">
                <a:solidFill>
                  <a:srgbClr val="172C42"/>
                </a:solidFill>
                <a:latin typeface="DejaVu Sans"/>
                <a:ea typeface="DejaVu Sans"/>
                <a:cs typeface="DejaVu Sans"/>
              </a:defRPr>
            </a:pPr>
            <a:r>
              <a:rPr sz="2550" b="0">
                <a:solidFill>
                  <a:srgbClr val="172C42"/>
                </a:solidFill>
                <a:latin typeface="DejaVu Sans"/>
                <a:ea typeface="DejaVu Sans"/>
                <a:cs typeface="DejaVu Sans"/>
              </a:rPr>
              <a:t>learn     /     learned     /     learning</a:t>
            </a:r>
          </a:p>
        </p:txBody>
      </p:sp>
      <p:sp>
        <p:nvSpPr>
          <p:cNvPr id="4" name="">
            <a:extLst xmlns:a="http://schemas.openxmlformats.org/drawingml/2006/main">
              <a:ext uri="{FF2B5EF4-FFF2-40B4-BE49-F238E27FC236}">
                <a16:creationId xmlns:a16="http://schemas.microsoft.com/office/drawing/2014/main" id="{4F7D4683-B7B5-49FA-893B-18E449C06AEB}"/>
              </a:ext>
            </a:extLst>
          </p:cNvPr>
          <p:cNvSpPr>
            <a:spLocks xmlns:a="http://schemas.openxmlformats.org/drawingml/2006/main" noGrp="1"/>
          </p:cNvSpPr>
          <p:nvPr/>
        </p:nvSpPr>
        <p:spPr>
          <a:xfrm xmlns:a="http://schemas.openxmlformats.org/drawingml/2006/main">
            <a:off x="666750" y="3905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אחרי have או has נשתמש בצורת V3.</a:t>
            </a:r>
          </a:p>
        </p:txBody>
      </p:sp>
      <p:sp>
        <p:nvSpPr>
          <p:cNvPr id="5" name="">
            <a:extLst xmlns:a="http://schemas.openxmlformats.org/drawingml/2006/main">
              <a:ext uri="{FF2B5EF4-FFF2-40B4-BE49-F238E27FC236}">
                <a16:creationId xmlns:a16="http://schemas.microsoft.com/office/drawing/2014/main" id="{3FCCCE41-0AEB-409B-BCF9-E8B9B2AACA04}"/>
              </a:ext>
            </a:extLst>
          </p:cNvPr>
          <p:cNvSpPr>
            <a:spLocks xmlns:a="http://schemas.openxmlformats.org/drawingml/2006/main" noGrp="1"/>
          </p:cNvSpPr>
          <p:nvPr/>
        </p:nvSpPr>
        <p:spPr>
          <a:xfrm xmlns:a="http://schemas.openxmlformats.org/drawingml/2006/main">
            <a:off x="666750" y="4953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0">
                <a:solidFill>
                  <a:srgbClr val="172C42"/>
                </a:solidFill>
                <a:latin typeface="DejaVu Sans"/>
                <a:ea typeface="DejaVu Sans"/>
                <a:cs typeface="DejaVu Sans"/>
              </a:defRPr>
            </a:pPr>
            <a:r>
              <a:rPr sz="2400" b="0">
                <a:solidFill>
                  <a:srgbClr val="172C42"/>
                </a:solidFill>
                <a:latin typeface="DejaVu Sans"/>
                <a:ea typeface="DejaVu Sans"/>
                <a:cs typeface="DejaVu Sans"/>
              </a:rPr>
              <a:t>Many students have learned to manage money through work.</a:t>
            </a:r>
          </a:p>
        </p:txBody>
      </p:sp>
      <p:sp>
        <p:nvSpPr>
          <p:cNvPr id="6" name="">
            <a:extLst xmlns:a="http://schemas.openxmlformats.org/drawingml/2006/main">
              <a:ext uri="{FF2B5EF4-FFF2-40B4-BE49-F238E27FC236}">
                <a16:creationId xmlns:a16="http://schemas.microsoft.com/office/drawing/2014/main" id="{AFCDF693-3ABB-4000-A90D-231EE05BDFC9}"/>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30d567066b3943d3"/>
              </a:rPr>
              <a:t>פתיחת המאמן</a:t>
            </a:r>
          </a:p>
        </p:txBody>
      </p:sp>
      <p:sp>
        <p:nvSpPr>
          <p:cNvPr id="7" name="">
            <a:extLst xmlns:a="http://schemas.openxmlformats.org/drawingml/2006/main">
              <a:ext uri="{FF2B5EF4-FFF2-40B4-BE49-F238E27FC236}">
                <a16:creationId xmlns:a16="http://schemas.microsoft.com/office/drawing/2014/main" id="{980D2AAA-5243-4FD1-88E2-21551EAA230E}"/>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18</a:t>
            </a:r>
          </a:p>
        </p:txBody>
      </p:sp>
    </p:spTree>
    <p:extLst>
      <p:ext uri="{BB962C8B-B14F-4D97-AF65-F5344CB8AC3E}">
        <p14:creationId xmlns:p14="http://schemas.microsoft.com/office/powerpoint/2010/main" val="909220066"/>
      </p:ext>
    </p:extLst>
  </p:cSld>
</p:sld>
</file>

<file path=ppt/slides/slide1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53BC53-607C-4AE2-8593-37BA85544B1E}"/>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הרחבה שמוסיפה משמעות</a:t>
            </a:r>
          </a:p>
        </p:txBody>
      </p:sp>
      <p:sp>
        <p:nvSpPr>
          <p:cNvPr id="2" name="">
            <a:extLst xmlns:a="http://schemas.openxmlformats.org/drawingml/2006/main">
              <a:ext uri="{FF2B5EF4-FFF2-40B4-BE49-F238E27FC236}">
                <a16:creationId xmlns:a16="http://schemas.microsoft.com/office/drawing/2014/main" id="{C2E4824D-F838-42CD-9312-0B149B2BF28A}"/>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הטענה: עבודה מלמדת לנהל כסף.</a:t>
            </a:r>
          </a:p>
        </p:txBody>
      </p:sp>
      <p:sp>
        <p:nvSpPr>
          <p:cNvPr id="3" name="">
            <a:extLst xmlns:a="http://schemas.openxmlformats.org/drawingml/2006/main">
              <a:ext uri="{FF2B5EF4-FFF2-40B4-BE49-F238E27FC236}">
                <a16:creationId xmlns:a16="http://schemas.microsoft.com/office/drawing/2014/main" id="{83157601-2B9E-4827-9A59-9AC9065E0DAA}"/>
              </a:ext>
            </a:extLst>
          </p:cNvPr>
          <p:cNvSpPr>
            <a:spLocks xmlns:a="http://schemas.openxmlformats.org/drawingml/2006/main" noGrp="1"/>
          </p:cNvSpPr>
          <p:nvPr/>
        </p:nvSpPr>
        <p:spPr>
          <a:xfrm xmlns:a="http://schemas.openxmlformats.org/drawingml/2006/main">
            <a:off x="666750" y="2714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625" b="0">
                <a:solidFill>
                  <a:srgbClr val="172C42"/>
                </a:solidFill>
                <a:latin typeface="DejaVu Sans"/>
                <a:ea typeface="DejaVu Sans"/>
                <a:cs typeface="DejaVu Sans"/>
              </a:defRPr>
            </a:pPr>
            <a:r>
              <a:rPr sz="2625" b="0" lang="he-IL">
                <a:solidFill>
                  <a:srgbClr val="172C42"/>
                </a:solidFill>
                <a:latin typeface="DejaVu Sans"/>
                <a:ea typeface="DejaVu Sans"/>
                <a:cs typeface="DejaVu Sans"/>
              </a:rPr>
              <a:t>השאלה הבאה: במה זה מועיל בחיי היום־יום?</a:t>
            </a:r>
          </a:p>
        </p:txBody>
      </p:sp>
      <p:sp>
        <p:nvSpPr>
          <p:cNvPr id="4" name="">
            <a:extLst xmlns:a="http://schemas.openxmlformats.org/drawingml/2006/main">
              <a:ext uri="{FF2B5EF4-FFF2-40B4-BE49-F238E27FC236}">
                <a16:creationId xmlns:a16="http://schemas.microsoft.com/office/drawing/2014/main" id="{1D26FE53-A8CC-4FCA-8137-30069F04FD98}"/>
              </a:ext>
            </a:extLst>
          </p:cNvPr>
          <p:cNvSpPr>
            <a:spLocks xmlns:a="http://schemas.openxmlformats.org/drawingml/2006/main" noGrp="1"/>
          </p:cNvSpPr>
          <p:nvPr/>
        </p:nvSpPr>
        <p:spPr>
          <a:xfrm xmlns:a="http://schemas.openxmlformats.org/drawingml/2006/main">
            <a:off x="666750" y="3905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75" b="0">
                <a:solidFill>
                  <a:srgbClr val="172C42"/>
                </a:solidFill>
                <a:latin typeface="DejaVu Sans"/>
                <a:ea typeface="DejaVu Sans"/>
                <a:cs typeface="DejaVu Sans"/>
              </a:defRPr>
            </a:pPr>
            <a:r>
              <a:rPr sz="2475" b="0">
                <a:solidFill>
                  <a:srgbClr val="172C42"/>
                </a:solidFill>
                <a:latin typeface="DejaVu Sans"/>
                <a:ea typeface="DejaVu Sans"/>
                <a:cs typeface="DejaVu Sans"/>
              </a:rPr>
              <a:t>Saving part of their pay can help them understand the difference between needs and wishes.</a:t>
            </a:r>
          </a:p>
        </p:txBody>
      </p:sp>
      <p:sp>
        <p:nvSpPr>
          <p:cNvPr id="5" name="">
            <a:extLst xmlns:a="http://schemas.openxmlformats.org/drawingml/2006/main">
              <a:ext uri="{FF2B5EF4-FFF2-40B4-BE49-F238E27FC236}">
                <a16:creationId xmlns:a16="http://schemas.microsoft.com/office/drawing/2014/main" id="{C66FC185-4EDE-431C-9EA5-027A07E2D601}"/>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הרחבה נשארת בפסקת הגוף המתאימה.</a:t>
            </a:r>
          </a:p>
        </p:txBody>
      </p:sp>
      <p:sp>
        <p:nvSpPr>
          <p:cNvPr id="6" name="">
            <a:extLst xmlns:a="http://schemas.openxmlformats.org/drawingml/2006/main">
              <a:ext uri="{FF2B5EF4-FFF2-40B4-BE49-F238E27FC236}">
                <a16:creationId xmlns:a16="http://schemas.microsoft.com/office/drawing/2014/main" id="{4D773866-2899-4706-ABB7-921178E6199A}"/>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5289fbfaca7e4241"/>
              </a:rPr>
              <a:t>פתיחת המאמן</a:t>
            </a:r>
          </a:p>
        </p:txBody>
      </p:sp>
      <p:sp>
        <p:nvSpPr>
          <p:cNvPr id="7" name="">
            <a:extLst xmlns:a="http://schemas.openxmlformats.org/drawingml/2006/main">
              <a:ext uri="{FF2B5EF4-FFF2-40B4-BE49-F238E27FC236}">
                <a16:creationId xmlns:a16="http://schemas.microsoft.com/office/drawing/2014/main" id="{022D44C2-1EF5-4F43-BF33-657A1599BA20}"/>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19</a:t>
            </a:r>
          </a:p>
        </p:txBody>
      </p:sp>
    </p:spTree>
    <p:extLst>
      <p:ext uri="{BB962C8B-B14F-4D97-AF65-F5344CB8AC3E}">
        <p14:creationId xmlns:p14="http://schemas.microsoft.com/office/powerpoint/2010/main" val="1501552441"/>
      </p:ext>
    </p:extLst>
  </p:cSld>
</p:sld>
</file>

<file path=ppt/slides/slide2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66BA2C-A80B-438F-B578-D35644157907}"/>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תקועים באמצע</a:t>
            </a:r>
          </a:p>
        </p:txBody>
      </p:sp>
      <p:sp>
        <p:nvSpPr>
          <p:cNvPr id="2" name="">
            <a:extLst xmlns:a="http://schemas.openxmlformats.org/drawingml/2006/main">
              <a:ext uri="{FF2B5EF4-FFF2-40B4-BE49-F238E27FC236}">
                <a16:creationId xmlns:a16="http://schemas.microsoft.com/office/drawing/2014/main" id="{7396648E-1351-42FF-9860-C9006F18D4F7}"/>
              </a:ext>
            </a:extLst>
          </p:cNvPr>
          <p:cNvSpPr>
            <a:spLocks xmlns:a="http://schemas.openxmlformats.org/drawingml/2006/main" noGrp="1"/>
          </p:cNvSpPr>
          <p:nvPr/>
        </p:nvSpPr>
        <p:spPr>
          <a:xfrm xmlns:a="http://schemas.openxmlformats.org/drawingml/2006/main">
            <a:off x="666750" y="16668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850" b="0">
                <a:solidFill>
                  <a:srgbClr val="172C42"/>
                </a:solidFill>
                <a:latin typeface="DejaVu Sans"/>
                <a:ea typeface="DejaVu Sans"/>
                <a:cs typeface="DejaVu Sans"/>
              </a:defRPr>
            </a:pPr>
            <a:r>
              <a:rPr sz="2850" b="0" lang="he-IL">
                <a:solidFill>
                  <a:srgbClr val="172C42"/>
                </a:solidFill>
                <a:latin typeface="DejaVu Sans"/>
                <a:ea typeface="DejaVu Sans"/>
                <a:cs typeface="DejaVu Sans"/>
              </a:rPr>
              <a:t>מקלידים ״רמז״ ומנסים שוב עם מעט עזרה.</a:t>
            </a:r>
          </a:p>
        </p:txBody>
      </p:sp>
      <p:sp>
        <p:nvSpPr>
          <p:cNvPr id="3" name="">
            <a:extLst xmlns:a="http://schemas.openxmlformats.org/drawingml/2006/main">
              <a:ext uri="{FF2B5EF4-FFF2-40B4-BE49-F238E27FC236}">
                <a16:creationId xmlns:a16="http://schemas.microsoft.com/office/drawing/2014/main" id="{C11DA4AC-2BE0-4119-934C-980B3B547701}"/>
              </a:ext>
            </a:extLst>
          </p:cNvPr>
          <p:cNvSpPr>
            <a:spLocks xmlns:a="http://schemas.openxmlformats.org/drawingml/2006/main" noGrp="1"/>
          </p:cNvSpPr>
          <p:nvPr/>
        </p:nvSpPr>
        <p:spPr>
          <a:xfrm xmlns:a="http://schemas.openxmlformats.org/drawingml/2006/main">
            <a:off x="666750" y="2714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״למה״ מבקש הסבר לתיקון.</a:t>
            </a:r>
          </a:p>
        </p:txBody>
      </p:sp>
      <p:sp>
        <p:nvSpPr>
          <p:cNvPr id="4" name="">
            <a:extLst xmlns:a="http://schemas.openxmlformats.org/drawingml/2006/main">
              <a:ext uri="{FF2B5EF4-FFF2-40B4-BE49-F238E27FC236}">
                <a16:creationId xmlns:a16="http://schemas.microsoft.com/office/drawing/2014/main" id="{6E543052-9020-4B12-9C02-3909F2330FD8}"/>
              </a:ext>
            </a:extLst>
          </p:cNvPr>
          <p:cNvSpPr>
            <a:spLocks xmlns:a="http://schemas.openxmlformats.org/drawingml/2006/main" noGrp="1"/>
          </p:cNvSpPr>
          <p:nvPr/>
        </p:nvSpPr>
        <p:spPr>
          <a:xfrm xmlns:a="http://schemas.openxmlformats.org/drawingml/2006/main">
            <a:off x="666750" y="3667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״החיבור שלי״ מציג את מה שנכתב ואת מספר המילים.</a:t>
            </a:r>
          </a:p>
        </p:txBody>
      </p:sp>
      <p:sp>
        <p:nvSpPr>
          <p:cNvPr id="5" name="">
            <a:extLst xmlns:a="http://schemas.openxmlformats.org/drawingml/2006/main">
              <a:ext uri="{FF2B5EF4-FFF2-40B4-BE49-F238E27FC236}">
                <a16:creationId xmlns:a16="http://schemas.microsoft.com/office/drawing/2014/main" id="{705207D8-D64F-4E86-8D70-B15042418512}"/>
              </a:ext>
            </a:extLst>
          </p:cNvPr>
          <p:cNvSpPr>
            <a:spLocks xmlns:a="http://schemas.openxmlformats.org/drawingml/2006/main" noGrp="1"/>
          </p:cNvSpPr>
          <p:nvPr/>
        </p:nvSpPr>
        <p:spPr>
          <a:xfrm xmlns:a="http://schemas.openxmlformats.org/drawingml/2006/main">
            <a:off x="666750" y="4619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״איפה אני״ מזכיר מה הצעד הבא.</a:t>
            </a:r>
          </a:p>
        </p:txBody>
      </p:sp>
      <p:sp>
        <p:nvSpPr>
          <p:cNvPr id="6" name="">
            <a:extLst xmlns:a="http://schemas.openxmlformats.org/drawingml/2006/main">
              <a:ext uri="{FF2B5EF4-FFF2-40B4-BE49-F238E27FC236}">
                <a16:creationId xmlns:a16="http://schemas.microsoft.com/office/drawing/2014/main" id="{DB6449DF-4AC3-45D8-B728-5691F3D45EE8}"/>
              </a:ext>
            </a:extLst>
          </p:cNvPr>
          <p:cNvSpPr>
            <a:spLocks xmlns:a="http://schemas.openxmlformats.org/drawingml/2006/main" noGrp="1"/>
          </p:cNvSpPr>
          <p:nvPr/>
        </p:nvSpPr>
        <p:spPr>
          <a:xfrm xmlns:a="http://schemas.openxmlformats.org/drawingml/2006/main">
            <a:off x="666750" y="54768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אלה פקודות שמקלידים בשיחה.</a:t>
            </a:r>
          </a:p>
        </p:txBody>
      </p:sp>
      <p:sp>
        <p:nvSpPr>
          <p:cNvPr id="7" name="">
            <a:extLst xmlns:a="http://schemas.openxmlformats.org/drawingml/2006/main">
              <a:ext uri="{FF2B5EF4-FFF2-40B4-BE49-F238E27FC236}">
                <a16:creationId xmlns:a16="http://schemas.microsoft.com/office/drawing/2014/main" id="{DDA93848-C080-4B20-AC5F-60C003DA6493}"/>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8de7214b7d6c4792"/>
              </a:rPr>
              <a:t>פתיחת המאמן</a:t>
            </a:r>
          </a:p>
        </p:txBody>
      </p:sp>
      <p:sp>
        <p:nvSpPr>
          <p:cNvPr id="8" name="">
            <a:extLst xmlns:a="http://schemas.openxmlformats.org/drawingml/2006/main">
              <a:ext uri="{FF2B5EF4-FFF2-40B4-BE49-F238E27FC236}">
                <a16:creationId xmlns:a16="http://schemas.microsoft.com/office/drawing/2014/main" id="{52772950-CFF8-4C59-A84E-30529F36C7FE}"/>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20</a:t>
            </a:r>
          </a:p>
        </p:txBody>
      </p:sp>
    </p:spTree>
    <p:extLst>
      <p:ext uri="{BB962C8B-B14F-4D97-AF65-F5344CB8AC3E}">
        <p14:creationId xmlns:p14="http://schemas.microsoft.com/office/powerpoint/2010/main" val="712629386"/>
      </p:ext>
    </p:extLst>
  </p:cSld>
</p:sld>
</file>

<file path=ppt/slides/slide2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FF3C28-35F7-4F8D-A35D-EB77CBD99E39}"/>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הסיכום והסביל</a:t>
            </a:r>
          </a:p>
        </p:txBody>
      </p:sp>
      <p:sp>
        <p:nvSpPr>
          <p:cNvPr id="2" name="">
            <a:extLst xmlns:a="http://schemas.openxmlformats.org/drawingml/2006/main">
              <a:ext uri="{FF2B5EF4-FFF2-40B4-BE49-F238E27FC236}">
                <a16:creationId xmlns:a16="http://schemas.microsoft.com/office/drawing/2014/main" id="{AAFD94E8-0DFE-4542-B2F4-D67F4FD7181A}"/>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הסיכום חוזר לעמדה, ומסיים בלי טיעון חדש.</a:t>
            </a:r>
          </a:p>
        </p:txBody>
      </p:sp>
      <p:sp>
        <p:nvSpPr>
          <p:cNvPr id="3" name="">
            <a:extLst xmlns:a="http://schemas.openxmlformats.org/drawingml/2006/main">
              <a:ext uri="{FF2B5EF4-FFF2-40B4-BE49-F238E27FC236}">
                <a16:creationId xmlns:a16="http://schemas.microsoft.com/office/drawing/2014/main" id="{C6D3D169-C0A0-49D6-9C2F-8CD68620A7C4}"/>
              </a:ext>
            </a:extLst>
          </p:cNvPr>
          <p:cNvSpPr>
            <a:spLocks xmlns:a="http://schemas.openxmlformats.org/drawingml/2006/main" noGrp="1"/>
          </p:cNvSpPr>
          <p:nvPr/>
        </p:nvSpPr>
        <p:spPr>
          <a:xfrm xmlns:a="http://schemas.openxmlformats.org/drawingml/2006/main">
            <a:off x="666750" y="2667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75" b="0">
                <a:solidFill>
                  <a:srgbClr val="172C42"/>
                </a:solidFill>
                <a:latin typeface="DejaVu Sans"/>
                <a:ea typeface="DejaVu Sans"/>
                <a:cs typeface="DejaVu Sans"/>
              </a:defRPr>
            </a:pPr>
            <a:r>
              <a:rPr sz="2475" b="0">
                <a:solidFill>
                  <a:srgbClr val="172C42"/>
                </a:solidFill>
                <a:latin typeface="DejaVu Sans"/>
                <a:ea typeface="DejaVu Sans"/>
                <a:cs typeface="DejaVu Sans"/>
              </a:rPr>
              <a:t>In conclusion, an after-school job can be beneficial when school remains the main priority.</a:t>
            </a:r>
          </a:p>
        </p:txBody>
      </p:sp>
      <p:sp>
        <p:nvSpPr>
          <p:cNvPr id="4" name="">
            <a:extLst xmlns:a="http://schemas.openxmlformats.org/drawingml/2006/main">
              <a:ext uri="{FF2B5EF4-FFF2-40B4-BE49-F238E27FC236}">
                <a16:creationId xmlns:a16="http://schemas.microsoft.com/office/drawing/2014/main" id="{6EA307A9-5740-43FD-8B5C-6790CCEAED3A}"/>
              </a:ext>
            </a:extLst>
          </p:cNvPr>
          <p:cNvSpPr>
            <a:spLocks xmlns:a="http://schemas.openxmlformats.org/drawingml/2006/main" noGrp="1"/>
          </p:cNvSpPr>
          <p:nvPr/>
        </p:nvSpPr>
        <p:spPr>
          <a:xfrm xmlns:a="http://schemas.openxmlformats.org/drawingml/2006/main">
            <a:off x="666750" y="4191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625" b="0">
                <a:solidFill>
                  <a:srgbClr val="172C42"/>
                </a:solidFill>
                <a:latin typeface="DejaVu Sans"/>
                <a:ea typeface="DejaVu Sans"/>
                <a:cs typeface="DejaVu Sans"/>
              </a:defRPr>
            </a:pPr>
            <a:r>
              <a:rPr sz="2625" b="0">
                <a:solidFill>
                  <a:srgbClr val="172C42"/>
                </a:solidFill>
                <a:latin typeface="DejaVu Sans"/>
                <a:ea typeface="DejaVu Sans"/>
                <a:cs typeface="DejaVu Sans"/>
              </a:rPr>
              <a:t>Working hours should be limited during the school year.</a:t>
            </a:r>
          </a:p>
        </p:txBody>
      </p:sp>
      <p:sp>
        <p:nvSpPr>
          <p:cNvPr id="5" name="">
            <a:extLst xmlns:a="http://schemas.openxmlformats.org/drawingml/2006/main">
              <a:ext uri="{FF2B5EF4-FFF2-40B4-BE49-F238E27FC236}">
                <a16:creationId xmlns:a16="http://schemas.microsoft.com/office/drawing/2014/main" id="{A30B15A3-BD3A-419E-B958-E1D5D38BD0E7}"/>
              </a:ext>
            </a:extLst>
          </p:cNvPr>
          <p:cNvSpPr>
            <a:spLocks xmlns:a="http://schemas.openxmlformats.org/drawingml/2006/main" noGrp="1"/>
          </p:cNvSpPr>
          <p:nvPr/>
        </p:nvSpPr>
        <p:spPr>
          <a:xfrm xmlns:a="http://schemas.openxmlformats.org/drawingml/2006/main">
            <a:off x="666750" y="5238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מבנה הסביל כאן: should be + V3</a:t>
            </a:r>
          </a:p>
        </p:txBody>
      </p:sp>
      <p:sp>
        <p:nvSpPr>
          <p:cNvPr id="6" name="">
            <a:extLst xmlns:a="http://schemas.openxmlformats.org/drawingml/2006/main">
              <a:ext uri="{FF2B5EF4-FFF2-40B4-BE49-F238E27FC236}">
                <a16:creationId xmlns:a16="http://schemas.microsoft.com/office/drawing/2014/main" id="{591F3715-1B0C-456E-B4FA-A365A020E5B9}"/>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424dca6e098343be"/>
              </a:rPr>
              <a:t>פתיחת המאמן</a:t>
            </a:r>
          </a:p>
        </p:txBody>
      </p:sp>
      <p:sp>
        <p:nvSpPr>
          <p:cNvPr id="7" name="">
            <a:extLst xmlns:a="http://schemas.openxmlformats.org/drawingml/2006/main">
              <a:ext uri="{FF2B5EF4-FFF2-40B4-BE49-F238E27FC236}">
                <a16:creationId xmlns:a16="http://schemas.microsoft.com/office/drawing/2014/main" id="{C5783191-6F52-4100-B6CF-4E48009D5E17}"/>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21</a:t>
            </a:r>
          </a:p>
        </p:txBody>
      </p:sp>
    </p:spTree>
    <p:extLst>
      <p:ext uri="{BB962C8B-B14F-4D97-AF65-F5344CB8AC3E}">
        <p14:creationId xmlns:p14="http://schemas.microsoft.com/office/powerpoint/2010/main" val="158529524"/>
      </p:ext>
    </p:extLst>
  </p:cSld>
</p:sld>
</file>

<file path=ppt/slides/slide2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02C20C-B33C-46C2-989C-78462F1B2F33}"/>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החיבור עד עכשיו</a:t>
            </a:r>
          </a:p>
        </p:txBody>
      </p:sp>
      <p:sp>
        <p:nvSpPr>
          <p:cNvPr id="2" name="">
            <a:extLst xmlns:a="http://schemas.openxmlformats.org/drawingml/2006/main">
              <a:ext uri="{FF2B5EF4-FFF2-40B4-BE49-F238E27FC236}">
                <a16:creationId xmlns:a16="http://schemas.microsoft.com/office/drawing/2014/main" id="{B518AAA7-C1AA-4FFB-A5FE-FACE38E29E7D}"/>
              </a:ext>
            </a:extLst>
          </p:cNvPr>
          <p:cNvSpPr>
            <a:spLocks xmlns:a="http://schemas.openxmlformats.org/drawingml/2006/main" noGrp="1"/>
          </p:cNvSpPr>
          <p:nvPr/>
        </p:nvSpPr>
        <p:spPr>
          <a:xfrm xmlns:a="http://schemas.openxmlformats.org/drawingml/2006/main">
            <a:off x="666750" y="161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בכל תור רואים את הטקסט שהתקבל ואת הספירה.</a:t>
            </a:r>
          </a:p>
        </p:txBody>
      </p:sp>
      <p:sp>
        <p:nvSpPr>
          <p:cNvPr id="3" name="">
            <a:extLst xmlns:a="http://schemas.openxmlformats.org/drawingml/2006/main">
              <a:ext uri="{FF2B5EF4-FFF2-40B4-BE49-F238E27FC236}">
                <a16:creationId xmlns:a16="http://schemas.microsoft.com/office/drawing/2014/main" id="{D7F186A4-6F0E-4C76-ADA4-555280FDA8FB}"/>
              </a:ext>
            </a:extLst>
          </p:cNvPr>
          <p:cNvSpPr>
            <a:spLocks xmlns:a="http://schemas.openxmlformats.org/drawingml/2006/main" noGrp="1"/>
          </p:cNvSpPr>
          <p:nvPr/>
        </p:nvSpPr>
        <p:spPr>
          <a:xfrm xmlns:a="http://schemas.openxmlformats.org/drawingml/2006/main">
            <a:off x="666750" y="2714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650" b="0">
                <a:solidFill>
                  <a:srgbClr val="172C42"/>
                </a:solidFill>
                <a:latin typeface="DejaVu Sans"/>
                <a:ea typeface="DejaVu Sans"/>
                <a:cs typeface="DejaVu Sans"/>
              </a:defRPr>
            </a:pPr>
            <a:r>
              <a:rPr sz="4650" b="0">
                <a:solidFill>
                  <a:srgbClr val="172C42"/>
                </a:solidFill>
                <a:latin typeface="DejaVu Sans"/>
                <a:ea typeface="DejaVu Sans"/>
                <a:cs typeface="DejaVu Sans"/>
              </a:rPr>
              <a:t>119 words</a:t>
            </a:r>
          </a:p>
        </p:txBody>
      </p:sp>
      <p:sp>
        <p:nvSpPr>
          <p:cNvPr id="4" name="">
            <a:extLst xmlns:a="http://schemas.openxmlformats.org/drawingml/2006/main">
              <a:ext uri="{FF2B5EF4-FFF2-40B4-BE49-F238E27FC236}">
                <a16:creationId xmlns:a16="http://schemas.microsoft.com/office/drawing/2014/main" id="{A7C86379-AF9A-4E5D-A9E6-E1A7F0EEEBE3}"/>
              </a:ext>
            </a:extLst>
          </p:cNvPr>
          <p:cNvSpPr>
            <a:spLocks xmlns:a="http://schemas.openxmlformats.org/drawingml/2006/main" noGrp="1"/>
          </p:cNvSpPr>
          <p:nvPr/>
        </p:nvSpPr>
        <p:spPr>
          <a:xfrm xmlns:a="http://schemas.openxmlformats.org/drawingml/2006/main">
            <a:off x="666750" y="3810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625" b="0">
                <a:solidFill>
                  <a:srgbClr val="172C42"/>
                </a:solidFill>
                <a:latin typeface="DejaVu Sans"/>
                <a:ea typeface="DejaVu Sans"/>
                <a:cs typeface="DejaVu Sans"/>
              </a:defRPr>
            </a:pPr>
            <a:r>
              <a:rPr sz="2625" b="0" lang="he-IL">
                <a:solidFill>
                  <a:srgbClr val="172C42"/>
                </a:solidFill>
                <a:latin typeface="DejaVu Sans"/>
                <a:ea typeface="DejaVu Sans"/>
                <a:cs typeface="DejaVu Sans"/>
              </a:rPr>
              <a:t>איזו דוגמה או הסבר חסרים בפסקת הגוף?</a:t>
            </a:r>
          </a:p>
        </p:txBody>
      </p:sp>
      <p:sp>
        <p:nvSpPr>
          <p:cNvPr id="5" name="">
            <a:extLst xmlns:a="http://schemas.openxmlformats.org/drawingml/2006/main">
              <a:ext uri="{FF2B5EF4-FFF2-40B4-BE49-F238E27FC236}">
                <a16:creationId xmlns:a16="http://schemas.microsoft.com/office/drawing/2014/main" id="{AEFD5C0A-1ADD-41EA-AD5C-DED679034B28}"/>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משפרים את התוכן עד שמגיעים ל־120 עד 140 מילים. נשארים בארבע פסקאות.</a:t>
            </a:r>
          </a:p>
        </p:txBody>
      </p:sp>
      <p:sp>
        <p:nvSpPr>
          <p:cNvPr id="6" name="">
            <a:extLst xmlns:a="http://schemas.openxmlformats.org/drawingml/2006/main">
              <a:ext uri="{FF2B5EF4-FFF2-40B4-BE49-F238E27FC236}">
                <a16:creationId xmlns:a16="http://schemas.microsoft.com/office/drawing/2014/main" id="{C5B5B723-9975-47BD-BB6A-87FA89D0334E}"/>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742fa41602174465"/>
              </a:rPr>
              <a:t>פתיחת המאמן</a:t>
            </a:r>
          </a:p>
        </p:txBody>
      </p:sp>
      <p:sp>
        <p:nvSpPr>
          <p:cNvPr id="7" name="">
            <a:extLst xmlns:a="http://schemas.openxmlformats.org/drawingml/2006/main">
              <a:ext uri="{FF2B5EF4-FFF2-40B4-BE49-F238E27FC236}">
                <a16:creationId xmlns:a16="http://schemas.microsoft.com/office/drawing/2014/main" id="{8AF50B83-267D-45C6-83BE-CDD3252FB618}"/>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22</a:t>
            </a:r>
          </a:p>
        </p:txBody>
      </p:sp>
    </p:spTree>
    <p:extLst>
      <p:ext uri="{BB962C8B-B14F-4D97-AF65-F5344CB8AC3E}">
        <p14:creationId xmlns:p14="http://schemas.microsoft.com/office/powerpoint/2010/main" val="529963896"/>
      </p:ext>
    </p:extLst>
  </p:cSld>
</p:sld>
</file>

<file path=ppt/slides/slide2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3B9E74-010A-4640-B180-88081938F090}"/>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החיבור שהשלמנו</a:t>
            </a:r>
          </a:p>
        </p:txBody>
      </p:sp>
      <p:sp>
        <p:nvSpPr>
          <p:cNvPr id="2" name="">
            <a:extLst xmlns:a="http://schemas.openxmlformats.org/drawingml/2006/main">
              <a:ext uri="{FF2B5EF4-FFF2-40B4-BE49-F238E27FC236}">
                <a16:creationId xmlns:a16="http://schemas.microsoft.com/office/drawing/2014/main" id="{15CF28D4-D892-4FC0-A00D-95426FEBC2FA}"/>
              </a:ext>
            </a:extLst>
          </p:cNvPr>
          <p:cNvSpPr>
            <a:spLocks xmlns:a="http://schemas.openxmlformats.org/drawingml/2006/main" noGrp="1"/>
          </p:cNvSpPr>
          <p:nvPr/>
        </p:nvSpPr>
        <p:spPr>
          <a:xfrm xmlns:a="http://schemas.openxmlformats.org/drawingml/2006/main">
            <a:off x="666750" y="1333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72C42"/>
                </a:solidFill>
                <a:latin typeface="DejaVu Sans"/>
                <a:ea typeface="DejaVu Sans"/>
                <a:cs typeface="DejaVu Sans"/>
              </a:defRPr>
            </a:pPr>
            <a:r>
              <a:rPr sz="1800" b="0">
                <a:solidFill>
                  <a:srgbClr val="172C42"/>
                </a:solidFill>
                <a:latin typeface="DejaVu Sans"/>
                <a:ea typeface="DejaVu Sans"/>
                <a:cs typeface="DejaVu Sans"/>
              </a:rPr>
              <a:t>Many teenagers consider getting a job while they are still at school. I claim that limited working hours can help students prepare for adult life.</a:t>
            </a:r>
          </a:p>
        </p:txBody>
      </p:sp>
      <p:sp>
        <p:nvSpPr>
          <p:cNvPr id="3" name="">
            <a:extLst xmlns:a="http://schemas.openxmlformats.org/drawingml/2006/main">
              <a:ext uri="{FF2B5EF4-FFF2-40B4-BE49-F238E27FC236}">
                <a16:creationId xmlns:a16="http://schemas.microsoft.com/office/drawing/2014/main" id="{960F6CD4-C6EA-49A3-9669-0E8677DA0C86}"/>
              </a:ext>
            </a:extLst>
          </p:cNvPr>
          <p:cNvSpPr>
            <a:spLocks xmlns:a="http://schemas.openxmlformats.org/drawingml/2006/main" noGrp="1"/>
          </p:cNvSpPr>
          <p:nvPr/>
        </p:nvSpPr>
        <p:spPr>
          <a:xfrm xmlns:a="http://schemas.openxmlformats.org/drawingml/2006/main">
            <a:off x="666750" y="2333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72C42"/>
                </a:solidFill>
                <a:latin typeface="DejaVu Sans"/>
                <a:ea typeface="DejaVu Sans"/>
                <a:cs typeface="DejaVu Sans"/>
              </a:defRPr>
            </a:pPr>
            <a:r>
              <a:rPr sz="1800" b="0">
                <a:solidFill>
                  <a:srgbClr val="172C42"/>
                </a:solidFill>
                <a:latin typeface="DejaVu Sans"/>
                <a:ea typeface="DejaVu Sans"/>
                <a:cs typeface="DejaVu Sans"/>
              </a:rPr>
              <a:t>On the one hand, working after school can leave teenagers tired. If they work every evening, they will have less time for homework. For example, a late shift may make preparing for a test difficult.</a:t>
            </a:r>
          </a:p>
        </p:txBody>
      </p:sp>
      <p:sp>
        <p:nvSpPr>
          <p:cNvPr id="4" name="">
            <a:extLst xmlns:a="http://schemas.openxmlformats.org/drawingml/2006/main">
              <a:ext uri="{FF2B5EF4-FFF2-40B4-BE49-F238E27FC236}">
                <a16:creationId xmlns:a16="http://schemas.microsoft.com/office/drawing/2014/main" id="{CF770F1B-B35D-4388-A888-0A74547034A5}"/>
              </a:ext>
            </a:extLst>
          </p:cNvPr>
          <p:cNvSpPr>
            <a:spLocks xmlns:a="http://schemas.openxmlformats.org/drawingml/2006/main" noGrp="1"/>
          </p:cNvSpPr>
          <p:nvPr/>
        </p:nvSpPr>
        <p:spPr>
          <a:xfrm xmlns:a="http://schemas.openxmlformats.org/drawingml/2006/main">
            <a:off x="666750" y="35718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72C42"/>
                </a:solidFill>
                <a:latin typeface="DejaVu Sans"/>
                <a:ea typeface="DejaVu Sans"/>
                <a:cs typeface="DejaVu Sans"/>
              </a:defRPr>
            </a:pPr>
            <a:r>
              <a:rPr sz="1800" b="0">
                <a:solidFill>
                  <a:srgbClr val="172C42"/>
                </a:solidFill>
                <a:latin typeface="DejaVu Sans"/>
                <a:ea typeface="DejaVu Sans"/>
                <a:cs typeface="DejaVu Sans"/>
              </a:rPr>
              <a:t>On the other hand, a small job can teach practical skills. Many students have learned to manage money through work. Saving part of their pay can also help them understand the difference between needs and wishes. In this way, they may become more independent.</a:t>
            </a:r>
          </a:p>
        </p:txBody>
      </p:sp>
      <p:sp>
        <p:nvSpPr>
          <p:cNvPr id="5" name="">
            <a:extLst xmlns:a="http://schemas.openxmlformats.org/drawingml/2006/main">
              <a:ext uri="{FF2B5EF4-FFF2-40B4-BE49-F238E27FC236}">
                <a16:creationId xmlns:a16="http://schemas.microsoft.com/office/drawing/2014/main" id="{136FF8F6-4479-4F7F-955B-CF8302C0D629}"/>
              </a:ext>
            </a:extLst>
          </p:cNvPr>
          <p:cNvSpPr>
            <a:spLocks xmlns:a="http://schemas.openxmlformats.org/drawingml/2006/main" noGrp="1"/>
          </p:cNvSpPr>
          <p:nvPr/>
        </p:nvSpPr>
        <p:spPr>
          <a:xfrm xmlns:a="http://schemas.openxmlformats.org/drawingml/2006/main">
            <a:off x="666750" y="5143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72C42"/>
                </a:solidFill>
                <a:latin typeface="DejaVu Sans"/>
                <a:ea typeface="DejaVu Sans"/>
                <a:cs typeface="DejaVu Sans"/>
              </a:defRPr>
            </a:pPr>
            <a:r>
              <a:rPr sz="1800" b="0">
                <a:solidFill>
                  <a:srgbClr val="172C42"/>
                </a:solidFill>
                <a:latin typeface="DejaVu Sans"/>
                <a:ea typeface="DejaVu Sans"/>
                <a:cs typeface="DejaVu Sans"/>
              </a:rPr>
              <a:t>In conclusion, an after-school job can be beneficial when school remains the main priority. Working hours should be limited during the school year.</a:t>
            </a:r>
          </a:p>
        </p:txBody>
      </p:sp>
      <p:sp>
        <p:nvSpPr>
          <p:cNvPr id="6" name="">
            <a:extLst xmlns:a="http://schemas.openxmlformats.org/drawingml/2006/main">
              <a:ext uri="{FF2B5EF4-FFF2-40B4-BE49-F238E27FC236}">
                <a16:creationId xmlns:a16="http://schemas.microsoft.com/office/drawing/2014/main" id="{ED6BE4F3-6DEB-4AEB-B53D-3355C8A53824}"/>
              </a:ext>
            </a:extLst>
          </p:cNvPr>
          <p:cNvSpPr>
            <a:spLocks xmlns:a="http://schemas.openxmlformats.org/drawingml/2006/main" noGrp="1"/>
          </p:cNvSpPr>
          <p:nvPr/>
        </p:nvSpPr>
        <p:spPr>
          <a:xfrm xmlns:a="http://schemas.openxmlformats.org/drawingml/2006/main">
            <a:off x="666750" y="6000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087E83"/>
                </a:solidFill>
                <a:latin typeface="DejaVu Sans"/>
                <a:ea typeface="DejaVu Sans"/>
                <a:cs typeface="DejaVu Sans"/>
              </a:defRPr>
            </a:pPr>
            <a:r>
              <a:rPr sz="1650" b="0">
                <a:solidFill>
                  <a:srgbClr val="087E83"/>
                </a:solidFill>
                <a:latin typeface="DejaVu Sans"/>
                <a:ea typeface="DejaVu Sans"/>
                <a:cs typeface="DejaVu Sans"/>
              </a:rPr>
              <a:t>127 words</a:t>
            </a:r>
          </a:p>
        </p:txBody>
      </p:sp>
      <p:sp>
        <p:nvSpPr>
          <p:cNvPr id="7" name="">
            <a:extLst xmlns:a="http://schemas.openxmlformats.org/drawingml/2006/main">
              <a:ext uri="{FF2B5EF4-FFF2-40B4-BE49-F238E27FC236}">
                <a16:creationId xmlns:a16="http://schemas.microsoft.com/office/drawing/2014/main" id="{E8819C36-906D-4E0D-B1EE-338FD4AE1EF0}"/>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0438dbfa0d414e47"/>
              </a:rPr>
              <a:t>פתיחת המאמן</a:t>
            </a:r>
          </a:p>
        </p:txBody>
      </p:sp>
      <p:sp>
        <p:nvSpPr>
          <p:cNvPr id="8" name="">
            <a:extLst xmlns:a="http://schemas.openxmlformats.org/drawingml/2006/main">
              <a:ext uri="{FF2B5EF4-FFF2-40B4-BE49-F238E27FC236}">
                <a16:creationId xmlns:a16="http://schemas.microsoft.com/office/drawing/2014/main" id="{344DCD47-EA82-4723-BBAB-F10D45D6F58D}"/>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23</a:t>
            </a:r>
          </a:p>
        </p:txBody>
      </p:sp>
    </p:spTree>
    <p:extLst>
      <p:ext uri="{BB962C8B-B14F-4D97-AF65-F5344CB8AC3E}">
        <p14:creationId xmlns:p14="http://schemas.microsoft.com/office/powerpoint/2010/main" val="2071758554"/>
      </p:ext>
    </p:extLst>
  </p:cSld>
</p:sld>
</file>

<file path=ppt/slides/slide2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C098E9-D138-46EB-A76C-CB208E431B5F}"/>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גם נושא תיאורי</a:t>
            </a:r>
          </a:p>
        </p:txBody>
      </p:sp>
      <p:sp>
        <p:nvSpPr>
          <p:cNvPr id="2" name="">
            <a:extLst xmlns:a="http://schemas.openxmlformats.org/drawingml/2006/main">
              <a:ext uri="{FF2B5EF4-FFF2-40B4-BE49-F238E27FC236}">
                <a16:creationId xmlns:a16="http://schemas.microsoft.com/office/drawing/2014/main" id="{BBABEA66-BC46-49B0-B982-AE1634C1BDD8}"/>
              </a:ext>
            </a:extLst>
          </p:cNvPr>
          <p:cNvSpPr>
            <a:spLocks xmlns:a="http://schemas.openxmlformats.org/drawingml/2006/main" noGrp="1"/>
          </p:cNvSpPr>
          <p:nvPr/>
        </p:nvSpPr>
        <p:spPr>
          <a:xfrm xmlns:a="http://schemas.openxmlformats.org/drawingml/2006/main">
            <a:off x="66675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925" b="0">
                <a:solidFill>
                  <a:srgbClr val="172C42"/>
                </a:solidFill>
                <a:latin typeface="DejaVu Sans"/>
                <a:ea typeface="DejaVu Sans"/>
                <a:cs typeface="DejaVu Sans"/>
              </a:defRPr>
            </a:pPr>
            <a:r>
              <a:rPr sz="2925" b="0">
                <a:solidFill>
                  <a:srgbClr val="172C42"/>
                </a:solidFill>
                <a:latin typeface="DejaVu Sans"/>
                <a:ea typeface="DejaVu Sans"/>
                <a:cs typeface="DejaVu Sans"/>
              </a:rPr>
              <a:t>Describe someone who had a great influence on your life.</a:t>
            </a:r>
          </a:p>
        </p:txBody>
      </p:sp>
      <p:sp>
        <p:nvSpPr>
          <p:cNvPr id="3" name="">
            <a:extLst xmlns:a="http://schemas.openxmlformats.org/drawingml/2006/main">
              <a:ext uri="{FF2B5EF4-FFF2-40B4-BE49-F238E27FC236}">
                <a16:creationId xmlns:a16="http://schemas.microsoft.com/office/drawing/2014/main" id="{4AEF018C-F752-41F0-B369-06BE52AE10B3}"/>
              </a:ext>
            </a:extLst>
          </p:cNvPr>
          <p:cNvSpPr>
            <a:spLocks xmlns:a="http://schemas.openxmlformats.org/drawingml/2006/main" noGrp="1"/>
          </p:cNvSpPr>
          <p:nvPr/>
        </p:nvSpPr>
        <p:spPr>
          <a:xfrm xmlns:a="http://schemas.openxmlformats.org/drawingml/2006/main">
            <a:off x="666750" y="3095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כאן בוחרים אדם, מתארים השפעה ומוסיפים דוגמה.</a:t>
            </a:r>
          </a:p>
        </p:txBody>
      </p:sp>
      <p:sp>
        <p:nvSpPr>
          <p:cNvPr id="4" name="">
            <a:extLst xmlns:a="http://schemas.openxmlformats.org/drawingml/2006/main">
              <a:ext uri="{FF2B5EF4-FFF2-40B4-BE49-F238E27FC236}">
                <a16:creationId xmlns:a16="http://schemas.microsoft.com/office/drawing/2014/main" id="{53E33907-590E-435F-B3AD-AAD40A441DB1}"/>
              </a:ext>
            </a:extLst>
          </p:cNvPr>
          <p:cNvSpPr>
            <a:spLocks xmlns:a="http://schemas.openxmlformats.org/drawingml/2006/main" noGrp="1"/>
          </p:cNvSpPr>
          <p:nvPr/>
        </p:nvSpPr>
        <p:spPr>
          <a:xfrm xmlns:a="http://schemas.openxmlformats.org/drawingml/2006/main">
            <a:off x="666750" y="4000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המאמן מתאים את פסקאות הגוף למשימה.</a:t>
            </a:r>
          </a:p>
        </p:txBody>
      </p:sp>
      <p:sp>
        <p:nvSpPr>
          <p:cNvPr id="5" name="">
            <a:extLst xmlns:a="http://schemas.openxmlformats.org/drawingml/2006/main">
              <a:ext uri="{FF2B5EF4-FFF2-40B4-BE49-F238E27FC236}">
                <a16:creationId xmlns:a16="http://schemas.microsoft.com/office/drawing/2014/main" id="{B9F3043A-0E21-4743-8B19-C74D124B35CF}"/>
              </a:ext>
            </a:extLst>
          </p:cNvPr>
          <p:cNvSpPr>
            <a:spLocks xmlns:a="http://schemas.openxmlformats.org/drawingml/2006/main" noGrp="1"/>
          </p:cNvSpPr>
          <p:nvPr/>
        </p:nvSpPr>
        <p:spPr>
          <a:xfrm xmlns:a="http://schemas.openxmlformats.org/drawingml/2006/main">
            <a:off x="666750" y="4762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מציגים צדדים מנוגדים רק אם יש ביניהם ניגוד אמיתי.</a:t>
            </a:r>
          </a:p>
        </p:txBody>
      </p:sp>
      <p:sp>
        <p:nvSpPr>
          <p:cNvPr id="6" name="">
            <a:extLst xmlns:a="http://schemas.openxmlformats.org/drawingml/2006/main">
              <a:ext uri="{FF2B5EF4-FFF2-40B4-BE49-F238E27FC236}">
                <a16:creationId xmlns:a16="http://schemas.microsoft.com/office/drawing/2014/main" id="{DD8A8D68-B032-47A1-9C96-33FD2B8665F8}"/>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1256c23fae114812"/>
              </a:rPr>
              <a:t>פתיחת המאמן</a:t>
            </a:r>
          </a:p>
        </p:txBody>
      </p:sp>
      <p:sp>
        <p:nvSpPr>
          <p:cNvPr id="7" name="">
            <a:extLst xmlns:a="http://schemas.openxmlformats.org/drawingml/2006/main">
              <a:ext uri="{FF2B5EF4-FFF2-40B4-BE49-F238E27FC236}">
                <a16:creationId xmlns:a16="http://schemas.microsoft.com/office/drawing/2014/main" id="{BBB40B0F-1B79-4CCA-BA34-AB900D4474DB}"/>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24</a:t>
            </a:r>
          </a:p>
        </p:txBody>
      </p:sp>
    </p:spTree>
    <p:extLst>
      <p:ext uri="{BB962C8B-B14F-4D97-AF65-F5344CB8AC3E}">
        <p14:creationId xmlns:p14="http://schemas.microsoft.com/office/powerpoint/2010/main" val="72617409"/>
      </p:ext>
    </p:extLst>
  </p:cSld>
</p:sld>
</file>

<file path=ppt/slides/slide2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7560BF-B425-44EC-88EA-CC464080F18F}"/>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בדיקה עצמית לפני סיום</a:t>
            </a:r>
          </a:p>
        </p:txBody>
      </p:sp>
      <p:sp>
        <p:nvSpPr>
          <p:cNvPr id="2" name="">
            <a:extLst xmlns:a="http://schemas.openxmlformats.org/drawingml/2006/main">
              <a:ext uri="{FF2B5EF4-FFF2-40B4-BE49-F238E27FC236}">
                <a16:creationId xmlns:a16="http://schemas.microsoft.com/office/drawing/2014/main" id="{DF0ADE13-A480-400A-9480-CF5B63170729}"/>
              </a:ext>
            </a:extLst>
          </p:cNvPr>
          <p:cNvSpPr>
            <a:spLocks xmlns:a="http://schemas.openxmlformats.org/drawingml/2006/main" noGrp="1"/>
          </p:cNvSpPr>
          <p:nvPr/>
        </p:nvSpPr>
        <p:spPr>
          <a:xfrm xmlns:a="http://schemas.openxmlformats.org/drawingml/2006/main">
            <a:off x="666750" y="1571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האם עניתי על הנושא, והאם הדוגמאות תומכות ברעיון?</a:t>
            </a:r>
          </a:p>
        </p:txBody>
      </p:sp>
      <p:sp>
        <p:nvSpPr>
          <p:cNvPr id="3" name="">
            <a:extLst xmlns:a="http://schemas.openxmlformats.org/drawingml/2006/main">
              <a:ext uri="{FF2B5EF4-FFF2-40B4-BE49-F238E27FC236}">
                <a16:creationId xmlns:a16="http://schemas.microsoft.com/office/drawing/2014/main" id="{23794FCF-8008-4DB9-B151-E89F15123350}"/>
              </a:ext>
            </a:extLst>
          </p:cNvPr>
          <p:cNvSpPr>
            <a:spLocks xmlns:a="http://schemas.openxmlformats.org/drawingml/2006/main" noGrp="1"/>
          </p:cNvSpPr>
          <p:nvPr/>
        </p:nvSpPr>
        <p:spPr>
          <a:xfrm xmlns:a="http://schemas.openxmlformats.org/drawingml/2006/main">
            <a:off x="666750" y="2524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האם יש בדיוק ארבע פסקאות ו־120 עד 140 מילים?</a:t>
            </a:r>
          </a:p>
        </p:txBody>
      </p:sp>
      <p:sp>
        <p:nvSpPr>
          <p:cNvPr id="4" name="">
            <a:extLst xmlns:a="http://schemas.openxmlformats.org/drawingml/2006/main">
              <a:ext uri="{FF2B5EF4-FFF2-40B4-BE49-F238E27FC236}">
                <a16:creationId xmlns:a16="http://schemas.microsoft.com/office/drawing/2014/main" id="{A6695908-F372-421E-B7AE-1BACAE13998A}"/>
              </a:ext>
            </a:extLst>
          </p:cNvPr>
          <p:cNvSpPr>
            <a:spLocks xmlns:a="http://schemas.openxmlformats.org/drawingml/2006/main" noGrp="1"/>
          </p:cNvSpPr>
          <p:nvPr/>
        </p:nvSpPr>
        <p:spPr>
          <a:xfrm xmlns:a="http://schemas.openxmlformats.org/drawingml/2006/main">
            <a:off x="666750" y="3476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האם התנאי, ה־Present Perfect והסביל מתאימים למשמעות?</a:t>
            </a:r>
          </a:p>
        </p:txBody>
      </p:sp>
      <p:sp>
        <p:nvSpPr>
          <p:cNvPr id="5" name="">
            <a:extLst xmlns:a="http://schemas.openxmlformats.org/drawingml/2006/main">
              <a:ext uri="{FF2B5EF4-FFF2-40B4-BE49-F238E27FC236}">
                <a16:creationId xmlns:a16="http://schemas.microsoft.com/office/drawing/2014/main" id="{03AE1844-1BE5-4CE1-9419-E22E7A9BE3A4}"/>
              </a:ext>
            </a:extLst>
          </p:cNvPr>
          <p:cNvSpPr>
            <a:spLocks xmlns:a="http://schemas.openxmlformats.org/drawingml/2006/main" noGrp="1"/>
          </p:cNvSpPr>
          <p:nvPr/>
        </p:nvSpPr>
        <p:spPr>
          <a:xfrm xmlns:a="http://schemas.openxmlformats.org/drawingml/2006/main">
            <a:off x="666750" y="4429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400" b="0">
                <a:solidFill>
                  <a:srgbClr val="172C42"/>
                </a:solidFill>
                <a:latin typeface="DejaVu Sans"/>
                <a:ea typeface="DejaVu Sans"/>
                <a:cs typeface="DejaVu Sans"/>
              </a:defRPr>
            </a:pPr>
            <a:r>
              <a:rPr sz="2400" b="0" lang="he-IL">
                <a:solidFill>
                  <a:srgbClr val="172C42"/>
                </a:solidFill>
                <a:latin typeface="DejaVu Sans"/>
                <a:ea typeface="DejaVu Sans"/>
                <a:cs typeface="DejaVu Sans"/>
              </a:rPr>
              <a:t>האם אני יכול להסביר למה תיקנתי כל משפט?</a:t>
            </a:r>
          </a:p>
        </p:txBody>
      </p:sp>
      <p:sp>
        <p:nvSpPr>
          <p:cNvPr id="6" name="">
            <a:extLst xmlns:a="http://schemas.openxmlformats.org/drawingml/2006/main">
              <a:ext uri="{FF2B5EF4-FFF2-40B4-BE49-F238E27FC236}">
                <a16:creationId xmlns:a16="http://schemas.microsoft.com/office/drawing/2014/main" id="{5CD67023-5535-4561-864E-100F6935E358}"/>
              </a:ext>
            </a:extLst>
          </p:cNvPr>
          <p:cNvSpPr>
            <a:spLocks xmlns:a="http://schemas.openxmlformats.org/drawingml/2006/main" noGrp="1"/>
          </p:cNvSpPr>
          <p:nvPr/>
        </p:nvSpPr>
        <p:spPr>
          <a:xfrm xmlns:a="http://schemas.openxmlformats.org/drawingml/2006/main">
            <a:off x="666750" y="542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זהו מבנה התרגול של הכיתה. המאמן אינו נותן ציון בגרות רשמי.</a:t>
            </a:r>
          </a:p>
        </p:txBody>
      </p:sp>
      <p:sp>
        <p:nvSpPr>
          <p:cNvPr id="7" name="">
            <a:extLst xmlns:a="http://schemas.openxmlformats.org/drawingml/2006/main">
              <a:ext uri="{FF2B5EF4-FFF2-40B4-BE49-F238E27FC236}">
                <a16:creationId xmlns:a16="http://schemas.microsoft.com/office/drawing/2014/main" id="{F7416449-0A4A-413F-BE96-0D60734B9766}"/>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bcc787c8970049d1"/>
              </a:rPr>
              <a:t>פתיחת המאמן</a:t>
            </a:r>
          </a:p>
        </p:txBody>
      </p:sp>
      <p:sp>
        <p:nvSpPr>
          <p:cNvPr id="8" name="">
            <a:extLst xmlns:a="http://schemas.openxmlformats.org/drawingml/2006/main">
              <a:ext uri="{FF2B5EF4-FFF2-40B4-BE49-F238E27FC236}">
                <a16:creationId xmlns:a16="http://schemas.microsoft.com/office/drawing/2014/main" id="{80F91850-0795-4A00-80D5-96D5D39351D1}"/>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25</a:t>
            </a:r>
          </a:p>
        </p:txBody>
      </p:sp>
    </p:spTree>
    <p:extLst>
      <p:ext uri="{BB962C8B-B14F-4D97-AF65-F5344CB8AC3E}">
        <p14:creationId xmlns:p14="http://schemas.microsoft.com/office/powerpoint/2010/main" val="287569371"/>
      </p:ext>
    </p:extLst>
  </p:cSld>
</p:sld>
</file>

<file path=ppt/slides/slide2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050CF7-78EC-481E-B60B-3F9F724CE324}"/>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300" b="1">
                <a:solidFill>
                  <a:srgbClr val="172C42"/>
                </a:solidFill>
                <a:latin typeface="DejaVu Sans"/>
                <a:ea typeface="DejaVu Sans"/>
                <a:cs typeface="DejaVu Sans"/>
              </a:defRPr>
            </a:pPr>
            <a:r>
              <a:rPr sz="3300" b="1" lang="he-IL">
                <a:solidFill>
                  <a:srgbClr val="172C42"/>
                </a:solidFill>
                <a:latin typeface="DejaVu Sans"/>
                <a:ea typeface="DejaVu Sans"/>
                <a:cs typeface="DejaVu Sans"/>
              </a:rPr>
              <a:t>עכשיו תורכם</a:t>
            </a:r>
          </a:p>
        </p:txBody>
      </p:sp>
      <p:sp>
        <p:nvSpPr>
          <p:cNvPr id="2" name="">
            <a:extLst xmlns:a="http://schemas.openxmlformats.org/drawingml/2006/main">
              <a:ext uri="{FF2B5EF4-FFF2-40B4-BE49-F238E27FC236}">
                <a16:creationId xmlns:a16="http://schemas.microsoft.com/office/drawing/2014/main" id="{E6F04F9C-27D1-42B2-BA55-EC426F98C1CF}"/>
              </a:ext>
            </a:extLst>
          </p:cNvPr>
          <p:cNvSpPr>
            <a:spLocks xmlns:a="http://schemas.openxmlformats.org/drawingml/2006/main" noGrp="1"/>
          </p:cNvSpPr>
          <p:nvPr/>
        </p:nvSpPr>
        <p:spPr>
          <a:xfrm xmlns:a="http://schemas.openxmlformats.org/drawingml/2006/main">
            <a:off x="66675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3225" b="0">
                <a:solidFill>
                  <a:srgbClr val="172C42"/>
                </a:solidFill>
                <a:latin typeface="DejaVu Sans"/>
                <a:ea typeface="DejaVu Sans"/>
                <a:cs typeface="DejaVu Sans"/>
              </a:defRPr>
            </a:pPr>
            <a:r>
              <a:rPr sz="3225" b="0" lang="he-IL">
                <a:solidFill>
                  <a:srgbClr val="172C42"/>
                </a:solidFill>
                <a:latin typeface="DejaVu Sans"/>
                <a:ea typeface="DejaVu Sans"/>
                <a:cs typeface="DejaVu Sans"/>
              </a:rPr>
              <a:t>פתחו את המאמן וכתבו: מתחילים</a:t>
            </a:r>
          </a:p>
        </p:txBody>
      </p:sp>
      <p:sp>
        <p:nvSpPr>
          <p:cNvPr id="3" name="">
            <a:extLst xmlns:a="http://schemas.openxmlformats.org/drawingml/2006/main">
              <a:ext uri="{FF2B5EF4-FFF2-40B4-BE49-F238E27FC236}">
                <a16:creationId xmlns:a16="http://schemas.microsoft.com/office/drawing/2014/main" id="{96D02480-A376-4E1B-A0B1-53875F3CB47A}"/>
              </a:ext>
            </a:extLst>
          </p:cNvPr>
          <p:cNvSpPr>
            <a:spLocks xmlns:a="http://schemas.openxmlformats.org/drawingml/2006/main" noGrp="1"/>
          </p:cNvSpPr>
          <p:nvPr/>
        </p:nvSpPr>
        <p:spPr>
          <a:xfrm xmlns:a="http://schemas.openxmlformats.org/drawingml/2006/main">
            <a:off x="666750" y="28098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625" b="0">
                <a:solidFill>
                  <a:srgbClr val="172C42"/>
                </a:solidFill>
                <a:latin typeface="DejaVu Sans"/>
                <a:ea typeface="DejaVu Sans"/>
                <a:cs typeface="DejaVu Sans"/>
              </a:defRPr>
            </a:pPr>
            <a:r>
              <a:rPr sz="2625" b="0" lang="he-IL">
                <a:solidFill>
                  <a:srgbClr val="172C42"/>
                </a:solidFill>
                <a:latin typeface="DejaVu Sans"/>
                <a:ea typeface="DejaVu Sans"/>
                <a:cs typeface="DejaVu Sans"/>
              </a:rPr>
              <a:t>כתבו פתיחה ועמדה. תקנו משפט אחד בעקבות המשוב.</a:t>
            </a:r>
          </a:p>
        </p:txBody>
      </p:sp>
      <p:sp>
        <p:nvSpPr>
          <p:cNvPr id="4" name="">
            <a:extLst xmlns:a="http://schemas.openxmlformats.org/drawingml/2006/main">
              <a:ext uri="{FF2B5EF4-FFF2-40B4-BE49-F238E27FC236}">
                <a16:creationId xmlns:a16="http://schemas.microsoft.com/office/drawing/2014/main" id="{38DA3A14-5077-4D55-8E72-2927B08F129C}"/>
              </a:ext>
            </a:extLst>
          </p:cNvPr>
          <p:cNvSpPr>
            <a:spLocks xmlns:a="http://schemas.openxmlformats.org/drawingml/2006/main" noGrp="1"/>
          </p:cNvSpPr>
          <p:nvPr/>
        </p:nvSpPr>
        <p:spPr>
          <a:xfrm xmlns:a="http://schemas.openxmlformats.org/drawingml/2006/main">
            <a:off x="666750" y="4000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2625" b="0">
                <a:solidFill>
                  <a:srgbClr val="172C42"/>
                </a:solidFill>
                <a:latin typeface="DejaVu Sans"/>
                <a:ea typeface="DejaVu Sans"/>
                <a:cs typeface="DejaVu Sans"/>
              </a:defRPr>
            </a:pPr>
            <a:r>
              <a:rPr sz="2625" b="0" lang="he-IL">
                <a:solidFill>
                  <a:srgbClr val="172C42"/>
                </a:solidFill>
                <a:latin typeface="DejaVu Sans"/>
                <a:ea typeface="DejaVu Sans"/>
                <a:cs typeface="DejaVu Sans"/>
              </a:rPr>
              <a:t>בסיום: הסבירו במילים שלכם מה השתפר.</a:t>
            </a:r>
          </a:p>
        </p:txBody>
      </p:sp>
      <p:sp>
        <p:nvSpPr>
          <p:cNvPr id="5" name="">
            <a:extLst xmlns:a="http://schemas.openxmlformats.org/drawingml/2006/main">
              <a:ext uri="{FF2B5EF4-FFF2-40B4-BE49-F238E27FC236}">
                <a16:creationId xmlns:a16="http://schemas.microsoft.com/office/drawing/2014/main" id="{115548DB-9597-434D-B3B4-E13EEC26AC06}"/>
              </a:ext>
            </a:extLst>
          </p:cNvPr>
          <p:cNvSpPr>
            <a:spLocks xmlns:a="http://schemas.openxmlformats.org/drawingml/2006/main" noGrp="1"/>
          </p:cNvSpPr>
          <p:nvPr/>
        </p:nvSpPr>
        <p:spPr>
          <a:xfrm xmlns:a="http://schemas.openxmlformats.org/drawingml/2006/main">
            <a:off x="666750" y="5143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950" b="0">
                <a:solidFill>
                  <a:srgbClr val="526576"/>
                </a:solidFill>
                <a:latin typeface="DejaVu Sans"/>
                <a:ea typeface="DejaVu Sans"/>
                <a:cs typeface="DejaVu Sans"/>
              </a:defRPr>
            </a:pPr>
            <a:r>
              <a:rPr sz="1950" b="0" lang="he-IL">
                <a:solidFill>
                  <a:srgbClr val="526576"/>
                </a:solidFill>
                <a:latin typeface="DejaVu Sans"/>
                <a:ea typeface="DejaVu Sans"/>
                <a:cs typeface="DejaVu Sans"/>
              </a:rPr>
              <a:t>לתרגול חדש אפשר להקליד ״נביא״ או ״נושא חדש״.</a:t>
            </a:r>
          </a:p>
        </p:txBody>
      </p:sp>
      <p:sp>
        <p:nvSpPr>
          <p:cNvPr id="6" name="">
            <a:extLst xmlns:a="http://schemas.openxmlformats.org/drawingml/2006/main">
              <a:ext uri="{FF2B5EF4-FFF2-40B4-BE49-F238E27FC236}">
                <a16:creationId xmlns:a16="http://schemas.microsoft.com/office/drawing/2014/main" id="{05E9921A-86EA-4FF8-BE72-F6B39B2D2F8E}"/>
              </a:ext>
            </a:extLst>
          </p:cNvPr>
          <p:cNvSpPr>
            <a:spLocks xmlns:a="http://schemas.openxmlformats.org/drawingml/2006/main" noGrp="1"/>
          </p:cNvSpPr>
          <p:nvPr/>
        </p:nvSpPr>
        <p:spPr>
          <a:xfrm xmlns:a="http://schemas.openxmlformats.org/drawingml/2006/main">
            <a:off x="666750" y="6400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rtl="1">
              <a:defRPr sz="1575" b="0">
                <a:solidFill>
                  <a:srgbClr val="087E83"/>
                </a:solidFill>
                <a:latin typeface="DejaVu Sans"/>
                <a:ea typeface="DejaVu Sans"/>
                <a:cs typeface="DejaVu Sans"/>
              </a:defRPr>
            </a:pPr>
            <a:r>
              <a:rPr sz="1575" b="0" lang="he-IL">
                <a:solidFill>
                  <a:srgbClr val="087E83"/>
                </a:solidFill>
                <a:latin typeface="DejaVu Sans"/>
                <a:ea typeface="DejaVu Sans"/>
                <a:cs typeface="DejaVu Sans"/>
                <a:hlinkClick xmlns:r="http://schemas.openxmlformats.org/officeDocument/2006/relationships" r:id="R1580d26974a340e2"/>
              </a:rPr>
              <a:t>פתיחת המאמן</a:t>
            </a:r>
          </a:p>
        </p:txBody>
      </p:sp>
      <p:sp>
        <p:nvSpPr>
          <p:cNvPr id="7" name="">
            <a:extLst xmlns:a="http://schemas.openxmlformats.org/drawingml/2006/main">
              <a:ext uri="{FF2B5EF4-FFF2-40B4-BE49-F238E27FC236}">
                <a16:creationId xmlns:a16="http://schemas.microsoft.com/office/drawing/2014/main" id="{785141D9-12BC-4873-8940-664C8D62719D}"/>
              </a:ext>
            </a:extLst>
          </p:cNvPr>
          <p:cNvSpPr>
            <a:spLocks xmlns:a="http://schemas.openxmlformats.org/drawingml/2006/main" noGrp="1"/>
          </p:cNvSpPr>
          <p:nvPr/>
        </p:nvSpPr>
        <p:spPr>
          <a:xfrm xmlns:a="http://schemas.openxmlformats.org/drawingml/2006/main">
            <a:off x="666750" y="6419850"/>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a:solidFill>
                  <a:srgbClr val="526576"/>
                </a:solidFill>
                <a:latin typeface="DejaVu Sans"/>
                <a:ea typeface="DejaVu Sans"/>
                <a:cs typeface="DejaVu Sans"/>
              </a:defRPr>
            </a:pPr>
            <a:r>
              <a:rPr sz="1425">
                <a:solidFill>
                  <a:srgbClr val="526576"/>
                </a:solidFill>
                <a:latin typeface="DejaVu Sans"/>
                <a:ea typeface="DejaVu Sans"/>
                <a:cs typeface="DejaVu Sans"/>
              </a:rPr>
              <a:t>26</a:t>
            </a:r>
          </a:p>
        </p:txBody>
      </p:sp>
    </p:spTree>
    <p:extLst>
      <p:ext uri="{BB962C8B-B14F-4D97-AF65-F5344CB8AC3E}">
        <p14:creationId xmlns:p14="http://schemas.microsoft.com/office/powerpoint/2010/main" val="18687774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2026-09-19T17:50:51.7520000Z</dcterms:created>
  <dcterms:modified xsi:type="dcterms:W3CDTF">2026-09-19T17:50:51.7520000Z</dcterms:modified>
</coreProperties>
</file>